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70" r:id="rId11"/>
    <p:sldId id="260" r:id="rId12"/>
    <p:sldId id="261" r:id="rId13"/>
    <p:sldId id="262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51ECC6-2D4B-BA92-B282-4E3DA8165BC6}" name="RISHIT BISOYI" initials="RB" userId="S::rishit.bisoyi2025@vitstudent.ac.in::cd4f7ff7-75e1-49f2-a276-375c6c1478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2C0BEE-8EA0-ABCF-A62F-2B9F40FC6642}" v="1" dt="2026-10-06T20:26:11.604"/>
    <p1510:client id="{8792CA87-CA5F-61F4-2F34-29E534A3DBAA}" v="7" dt="2026-10-07T05:50:44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88531-0810-49A5-A43A-AC37517BACE6}" authorId="{4F51ECC6-2D4B-BA92-B282-4E3DA8165BC6}" created="2026-10-06T20:26:11.604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US"/>
          <a:t>Go to File-&gt;Create a copy-&gt;Download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2194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2596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2999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9601200" y="640080"/>
            <a:ext cx="109728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6005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65733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rc 19"/>
          <p:cNvSpPr/>
          <p:nvPr/>
        </p:nvSpPr>
        <p:spPr>
          <a:xfrm>
            <a:off x="1463040" y="5303520"/>
            <a:ext cx="1005840" cy="73152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21892" y="56281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7732" y="526237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1645920" y="758952"/>
            <a:ext cx="219456" cy="256032"/>
          </a:xfrm>
          <a:prstGeom prst="triangle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73352" y="685800"/>
            <a:ext cx="164592" cy="91440"/>
          </a:xfrm>
          <a:prstGeom prst="roundRect">
            <a:avLst>
              <a:gd name="adj" fmla="val 20000"/>
            </a:avLst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32788" y="822960"/>
            <a:ext cx="45720" cy="45720"/>
          </a:xfrm>
          <a:prstGeom prst="ellipse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751076" y="868680"/>
            <a:ext cx="19050" cy="13716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45920" y="1078992"/>
            <a:ext cx="9144000" cy="1554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5600" b="1">
                <a:solidFill>
                  <a:srgbClr val="353334"/>
                </a:solidFill>
                <a:latin typeface="Fjalla One"/>
              </a:defRPr>
            </a:pPr>
            <a:r>
              <a:t>DATAQUEST 3.0</a:t>
            </a:r>
          </a:p>
          <a:p>
            <a:pPr>
              <a:spcBef>
                <a:spcPts val="200"/>
              </a:spcBef>
              <a:defRPr sz="3200" b="1">
                <a:solidFill>
                  <a:srgbClr val="FD1485"/>
                </a:solidFill>
                <a:latin typeface="Fjalla One"/>
              </a:defRPr>
            </a:pPr>
            <a:r>
              <a:t>FINAL PRESENTATION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2578608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2670048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353334"/>
                </a:solidFill>
                <a:latin typeface="Mulish"/>
              </a:rPr>
              <a:t>PRISM ENGINE  ·  PROBLEM STATEMENT DQNM  ·  NANO MECH LABS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PROJECT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52044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53334"/>
                </a:solidFill>
                <a:latin typeface="Fjalla One"/>
              </a:rPr>
              <a:t>PROJECT TITLE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FD1485"/>
                </a:solidFill>
                <a:latin typeface="Fjalla One"/>
              </a:rPr>
              <a:t>PRISM Engine: Multi-Dimensional STEAM Career Guidance &amp; Hyper-Local Innovation Platform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353334"/>
                </a:solidFill>
                <a:latin typeface="Fjalla One"/>
              </a:rPr>
              <a:t>ONE-LINE PITCH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Treats career choice as a family negotiation: deterministic math scores fit, affordability and parent-student conflict; Gemini explains only verified numbers.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353334"/>
                </a:solidFill>
                <a:latin typeface="Fjalla One"/>
              </a:rPr>
              <a:t>TRACK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79ED2"/>
                </a:solidFill>
                <a:latin typeface="Mulish"/>
              </a:rPr>
              <a:t>DQNM · STEAM Career Guidance &amp; Hyper-Local Innovation (Nano Mech Labs)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TEAM &amp;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52044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53334"/>
                </a:solidFill>
                <a:latin typeface="Fjalla One"/>
              </a:rPr>
              <a:t>TEAM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353334"/>
                </a:solidFill>
                <a:latin typeface="Fjalla One"/>
              </a:rPr>
              <a:t>Four Spades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353334"/>
                </a:solidFill>
                <a:latin typeface="Fjalla One"/>
              </a:rPr>
              <a:t>PARTICIPANTS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•  Palanivel Rajan S — 24BEC1005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•  Sanjeev D — 24BEC1053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•  PG Navin Kumar — 24BEC1055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C3C41"/>
                </a:solidFill>
                <a:latin typeface="Mulish"/>
              </a:rPr>
              <a:t>•  M Yashwant — 24BEC1096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Kicker 43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4" name="Title 44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02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Problem Definition</a:t>
            </a:r>
          </a:p>
        </p:txBody>
      </p:sp>
      <p:sp>
        <p:nvSpPr>
          <p:cNvPr id="45" name="Rule 45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6" name="Subtitle 46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Who is impacted · Today’s workarounds · Why current methods fail · Concrete proof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01 · AUDIENCE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20240" y="2313432"/>
            <a:ext cx="4023360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WHO &amp; HOW OFTEN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Who: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students (Grade 6–12, UG) and the parents who fund and veto the decision; ~90% choose careers without structured guidance.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How often: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every stream, course and college decision, every admission cycle.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Scale: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about one counsellor per ~15,000 students; parents are left out.</a:t>
            </a:r>
          </a:p>
        </p:txBody>
      </p:sp>
      <p:sp>
        <p:nvSpPr>
          <p:cNvPr id="34" name="Card 34"/>
          <p:cNvSpPr/>
          <p:nvPr/>
        </p:nvSpPr>
        <p:spPr>
          <a:xfrm>
            <a:off x="649224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5" name="Pill 35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02 · STATUS QUO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766560" y="2313432"/>
            <a:ext cx="4023360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CURRENT APPROACH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Hearsay, peer choices and narrow exam cut-offs drive decisions.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93% of youth know only 7–10 careers out of 250+ paths.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Static quizzes or generic chatbots; human counsellors are scarce and costly.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Parents decide on gut feel about cost and “safe” careers; scholarships are found late.</a:t>
            </a:r>
          </a:p>
        </p:txBody>
      </p:sp>
      <p:sp>
        <p:nvSpPr>
          <p:cNvPr id="37" name="Card 37"/>
          <p:cNvSpPr/>
          <p:nvPr/>
        </p:nvSpPr>
        <p:spPr>
          <a:xfrm>
            <a:off x="164592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8" name="Pill 38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03 · DEFICIENCY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920240" y="4645152"/>
            <a:ext cx="4023360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WHY IT FALLS SHORT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Operates in a vacuum: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asks what the student wants, ignores budget, loan tolerance, risk appetite and distance limits.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No yield view: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no ROI, payback or regional demand.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Doesn’t scale: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1:15,000 ratio; LLM chatbots hallucinate fees and careers.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Result: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dropped degrees, heavy education debt, family conflict.</a:t>
            </a:r>
          </a:p>
        </p:txBody>
      </p:sp>
      <p:sp>
        <p:nvSpPr>
          <p:cNvPr id="40" name="Card 40"/>
          <p:cNvSpPr/>
          <p:nvPr/>
        </p:nvSpPr>
        <p:spPr>
          <a:xfrm>
            <a:off x="649224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1" name="Pill 41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7E4FB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04 · VALIDATION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766560" y="4645152"/>
            <a:ext cx="4023360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EVIDENCE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90% choose blindly; engineering job-readiness only 20–25% (India Today, Sep 2025).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10% know real course costs; 81% report decision barriers (ETV Bharat, Sep 2025).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65% mismatched streams; 73% extreme stress at stream selection (UNESCO, 2025).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50%+ regret choices by 25; 85–86% of graduates feel unprepared (Dahiya, SSRN, 2025).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Kicker 47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8" name="Title 48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03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Proposed Solution</a:t>
            </a:r>
          </a:p>
        </p:txBody>
      </p:sp>
      <p:sp>
        <p:nvSpPr>
          <p:cNvPr id="49" name="Rule 49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50" name="Subtitle 50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System identity · The student–parent bridge · Competitive advantages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11680"/>
            <a:ext cx="9418320" cy="1005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SOLUTION CORE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828800" y="2194560"/>
            <a:ext cx="9052560" cy="8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PRISM ENGINE: Multi-Stakeholder Career Intelligence</a:t>
            </a:r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PRISM (Parent-Student Relational Intelligence &amp; Scoring Matrix) treats career selection as a negotiation, not a single-player game. It vectorizes the student’s psychometrics and the parent’s constraints, solves feasibility with deterministic math, and returns ranked, affordable pathways with a conflict index. Gemini only explains verified numbers.</a:t>
            </a:r>
          </a:p>
        </p:txBody>
      </p:sp>
      <p:sp>
        <p:nvSpPr>
          <p:cNvPr id="34" name="Card 34"/>
          <p:cNvSpPr/>
          <p:nvPr/>
        </p:nvSpPr>
        <p:spPr>
          <a:xfrm>
            <a:off x="1645920" y="3291840"/>
            <a:ext cx="9418320" cy="1463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5" name="Pill 35"/>
          <p:cNvSpPr/>
          <p:nvPr/>
        </p:nvSpPr>
        <p:spPr>
          <a:xfrm>
            <a:off x="1965960" y="31638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THE BRIDGE</a:t>
            </a:r>
          </a:p>
        </p:txBody>
      </p:sp>
      <p:sp>
        <p:nvSpPr>
          <p:cNvPr id="36" name="Box 36"/>
          <p:cNvSpPr/>
          <p:nvPr/>
        </p:nvSpPr>
        <p:spPr>
          <a:xfrm>
            <a:off x="1920240" y="347472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E6F4FA"/>
          </a:solidFill>
          <a:ln w="19050">
            <a:solidFill>
              <a:srgbClr val="079ED2"/>
            </a:solidFill>
          </a:ln>
        </p:spPr>
        <p:txBody>
          <a:bodyPr wrap="square" lIns="91440" tIns="54864" rIns="91440" bIns="54864" rtlCol="0" anchor="ctr"/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079ED2"/>
                </a:solidFill>
                <a:latin typeface="Fjalla One"/>
              </a:rPr>
              <a:t>STUDENT SIDE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RIASEC psychometrics · aptitude · domain interests</a:t>
            </a:r>
          </a:p>
        </p:txBody>
      </p:sp>
      <p:sp>
        <p:nvSpPr>
          <p:cNvPr id="37" name="Arrow 37"/>
          <p:cNvSpPr/>
          <p:nvPr/>
        </p:nvSpPr>
        <p:spPr>
          <a:xfrm>
            <a:off x="4722876" y="3922776"/>
            <a:ext cx="201168" cy="201168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Box 38"/>
          <p:cNvSpPr/>
          <p:nvPr/>
        </p:nvSpPr>
        <p:spPr>
          <a:xfrm>
            <a:off x="4983480" y="347472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FFE3F1"/>
          </a:solidFill>
          <a:ln w="19050">
            <a:solidFill>
              <a:srgbClr val="FD1485"/>
            </a:solidFill>
          </a:ln>
        </p:spPr>
        <p:txBody>
          <a:bodyPr wrap="square" lIns="91440" tIns="54864" rIns="91440" bIns="54864" rtlCol="0" anchor="ctr"/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FD1485"/>
                </a:solidFill>
                <a:latin typeface="Fjalla One"/>
              </a:rPr>
              <a:t>PRISM ENGINE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Feasibility · conflict index (PSCI) · best compromise pathway</a:t>
            </a:r>
          </a:p>
        </p:txBody>
      </p:sp>
      <p:sp>
        <p:nvSpPr>
          <p:cNvPr id="39" name="Arrow 39"/>
          <p:cNvSpPr/>
          <p:nvPr/>
        </p:nvSpPr>
        <p:spPr>
          <a:xfrm>
            <a:off x="7786116" y="3922776"/>
            <a:ext cx="201168" cy="201168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Box 40"/>
          <p:cNvSpPr/>
          <p:nvPr/>
        </p:nvSpPr>
        <p:spPr>
          <a:xfrm>
            <a:off x="8046720" y="347472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FFB903"/>
            </a:solidFill>
          </a:ln>
        </p:spPr>
        <p:txBody>
          <a:bodyPr wrap="square" lIns="91440" tIns="54864" rIns="91440" bIns="54864" rtlCol="0" anchor="ctr"/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C98A00"/>
                </a:solidFill>
                <a:latin typeface="Fjalla One"/>
              </a:rPr>
              <a:t>PARENT SIDE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Max budget · loan tolerance · distance radius · risk appetite</a:t>
            </a:r>
          </a:p>
        </p:txBody>
      </p:sp>
      <p:sp>
        <p:nvSpPr>
          <p:cNvPr id="41" name="Card 41"/>
          <p:cNvSpPr/>
          <p:nvPr/>
        </p:nvSpPr>
        <p:spPr>
          <a:xfrm>
            <a:off x="1645920" y="5029200"/>
            <a:ext cx="4572000" cy="1508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2" name="Pill 42"/>
          <p:cNvSpPr/>
          <p:nvPr/>
        </p:nvSpPr>
        <p:spPr>
          <a:xfrm>
            <a:off x="1965960" y="49011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ADVANTAGE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1920240" y="5257800"/>
            <a:ext cx="4023360" cy="1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WHY IT IS BETTER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Student 10-D vector and parent 4-D constraint vector are matched together.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Fit, EMI and payback are computed, not generated: no hallucinated fees.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Math pipeline ~45 ms (~1.2 s with Gemini); near-zero run cost.</a:t>
            </a:r>
          </a:p>
        </p:txBody>
      </p:sp>
      <p:sp>
        <p:nvSpPr>
          <p:cNvPr id="44" name="Card 44"/>
          <p:cNvSpPr/>
          <p:nvPr/>
        </p:nvSpPr>
        <p:spPr>
          <a:xfrm>
            <a:off x="6492240" y="5029200"/>
            <a:ext cx="4572000" cy="1508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5" name="Pill 45"/>
          <p:cNvSpPr/>
          <p:nvPr/>
        </p:nvSpPr>
        <p:spPr>
          <a:xfrm>
            <a:off x="6812280" y="49011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7E4FB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INNOVATION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6766560" y="5257800"/>
            <a:ext cx="4023360" cy="12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WHAT IS DIFFERENT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PSCI: a quantified parent-student conflict score.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Solve before rank: scholarships bridge tuition gaps first.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MAUT compromise pathways; the LLM explains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Kicker 52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53" name="Title 53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04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System Architecture</a:t>
            </a:r>
          </a:p>
        </p:txBody>
      </p:sp>
      <p:sp>
        <p:nvSpPr>
          <p:cNvPr id="54" name="Rule 54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55" name="Subtitle 55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System diagram is the primary visual · Engineering decisions · Validation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11680"/>
            <a:ext cx="941832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SYSTEM DIAGRAM</a:t>
            </a:r>
          </a:p>
        </p:txBody>
      </p:sp>
      <p:sp>
        <p:nvSpPr>
          <p:cNvPr id="33" name="Box 33"/>
          <p:cNvSpPr/>
          <p:nvPr/>
        </p:nvSpPr>
        <p:spPr>
          <a:xfrm>
            <a:off x="1920240" y="2331720"/>
            <a:ext cx="8869680" cy="2148840"/>
          </a:xfrm>
          <a:prstGeom prst="roundRect">
            <a:avLst>
              <a:gd name="adj" fmla="val 3500"/>
            </a:avLst>
          </a:prstGeom>
          <a:solidFill>
            <a:srgbClr val="FFFFF1"/>
          </a:solidFill>
          <a:ln w="19050">
            <a:solidFill>
              <a:srgbClr val="353334"/>
            </a:solidFill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4" name="Box 34"/>
          <p:cNvSpPr/>
          <p:nvPr/>
        </p:nvSpPr>
        <p:spPr>
          <a:xfrm>
            <a:off x="2011680" y="2432304"/>
            <a:ext cx="1965960" cy="1572768"/>
          </a:xfrm>
          <a:prstGeom prst="roundRect">
            <a:avLst>
              <a:gd name="adj" fmla="val 6000"/>
            </a:avLst>
          </a:prstGeom>
          <a:solidFill>
            <a:srgbClr val="E6F4FA"/>
          </a:solidFill>
          <a:ln w="19050">
            <a:solidFill>
              <a:srgbClr val="079ED2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00" b="1" dirty="0">
                <a:solidFill>
                  <a:srgbClr val="079ED2"/>
                </a:solidFill>
                <a:latin typeface="Fjalla One"/>
              </a:rPr>
              <a:t>1 · PRESENTATION</a:t>
            </a:r>
          </a:p>
          <a:p>
            <a:pPr>
              <a:spcBef>
                <a:spcPts val="2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React + Vite + Tailwind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Gamified Duolingo-style flow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Recharts radar and quadrant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Map finder, PDF, AI chat</a:t>
            </a:r>
          </a:p>
        </p:txBody>
      </p:sp>
      <p:sp>
        <p:nvSpPr>
          <p:cNvPr id="35" name="Box 35"/>
          <p:cNvSpPr/>
          <p:nvPr/>
        </p:nvSpPr>
        <p:spPr>
          <a:xfrm>
            <a:off x="4233672" y="2432304"/>
            <a:ext cx="1965960" cy="1572768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FFB903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00" b="1" dirty="0">
                <a:solidFill>
                  <a:srgbClr val="D99A00"/>
                </a:solidFill>
                <a:latin typeface="Fjalla One"/>
              </a:rPr>
              <a:t>2 · API GATEWAY</a:t>
            </a:r>
          </a:p>
          <a:p>
            <a:pPr>
              <a:spcBef>
                <a:spcPts val="2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FastAPI + Pydantic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Strict schema validation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Vector encoder maps to 0–1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REST JSON in, scores out</a:t>
            </a:r>
          </a:p>
        </p:txBody>
      </p:sp>
      <p:sp>
        <p:nvSpPr>
          <p:cNvPr id="36" name="Box 36"/>
          <p:cNvSpPr/>
          <p:nvPr/>
        </p:nvSpPr>
        <p:spPr>
          <a:xfrm>
            <a:off x="6455664" y="2432304"/>
            <a:ext cx="1965960" cy="1572768"/>
          </a:xfrm>
          <a:prstGeom prst="roundRect">
            <a:avLst>
              <a:gd name="adj" fmla="val 6000"/>
            </a:avLst>
          </a:prstGeom>
          <a:solidFill>
            <a:srgbClr val="FFE3F1"/>
          </a:solidFill>
          <a:ln w="19050">
            <a:solidFill>
              <a:srgbClr val="FD1485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00" b="1" dirty="0">
                <a:solidFill>
                  <a:srgbClr val="FD1485"/>
                </a:solidFill>
                <a:latin typeface="Fjalla One"/>
              </a:rPr>
              <a:t>3 · MATH ENGINE</a:t>
            </a:r>
          </a:p>
          <a:p>
            <a:pPr>
              <a:spcBef>
                <a:spcPts val="2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NumPy (deterministic)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Fit: cosine similarity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PSCI: weighted Euclidean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Financial solver: EMI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MAUT ranker</a:t>
            </a:r>
          </a:p>
        </p:txBody>
      </p:sp>
      <p:sp>
        <p:nvSpPr>
          <p:cNvPr id="37" name="Box 37"/>
          <p:cNvSpPr/>
          <p:nvPr/>
        </p:nvSpPr>
        <p:spPr>
          <a:xfrm>
            <a:off x="8677655" y="2432304"/>
            <a:ext cx="1965960" cy="1572768"/>
          </a:xfrm>
          <a:prstGeom prst="roundRect">
            <a:avLst>
              <a:gd name="adj" fmla="val 6000"/>
            </a:avLst>
          </a:prstGeom>
          <a:solidFill>
            <a:srgbClr val="EFE6F7"/>
          </a:solidFill>
          <a:ln w="19050">
            <a:solidFill>
              <a:srgbClr val="7E4FB5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00" b="1" dirty="0">
                <a:solidFill>
                  <a:srgbClr val="7E4FB5"/>
                </a:solidFill>
                <a:latin typeface="Fjalla One"/>
              </a:rPr>
              <a:t>5 · AI &amp; EXPLAINABILITY</a:t>
            </a:r>
          </a:p>
          <a:p>
            <a:pPr>
              <a:spcBef>
                <a:spcPts val="2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Gemini Flash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SWOT, mediation, exam plan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English, Hindi, Tamil, Telugu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Math-only fallback</a:t>
            </a:r>
          </a:p>
        </p:txBody>
      </p:sp>
      <p:sp>
        <p:nvSpPr>
          <p:cNvPr id="38" name="Arrow 38"/>
          <p:cNvSpPr/>
          <p:nvPr/>
        </p:nvSpPr>
        <p:spPr>
          <a:xfrm>
            <a:off x="4005072" y="3118104"/>
            <a:ext cx="201168" cy="201168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Arrow 39"/>
          <p:cNvSpPr/>
          <p:nvPr/>
        </p:nvSpPr>
        <p:spPr>
          <a:xfrm>
            <a:off x="6227064" y="3118104"/>
            <a:ext cx="201168" cy="201168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Arrow 40"/>
          <p:cNvSpPr/>
          <p:nvPr/>
        </p:nvSpPr>
        <p:spPr>
          <a:xfrm>
            <a:off x="8449055" y="3118104"/>
            <a:ext cx="201168" cy="201168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Box 41"/>
          <p:cNvSpPr/>
          <p:nvPr/>
        </p:nvSpPr>
        <p:spPr>
          <a:xfrm>
            <a:off x="2011680" y="4133087"/>
            <a:ext cx="8631935" cy="301752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9050">
            <a:solidFill>
              <a:srgbClr val="353334"/>
            </a:solidFill>
          </a:ln>
        </p:spPr>
        <p:txBody>
          <a:bodyPr wrap="square" lIns="73152" tIns="18288" rIns="73152" bIns="18288" rtlCol="0" anchor="ctr"/>
          <a:lstStyle/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4 · DATA &amp; KNOWLEDGE:  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30 careers → 12 domains  ·  12 scholarship schemes  ·  NASSCOM / NCS demand indices</a:t>
            </a:r>
          </a:p>
        </p:txBody>
      </p:sp>
      <p:sp>
        <p:nvSpPr>
          <p:cNvPr id="42" name="Arrow 42"/>
          <p:cNvSpPr/>
          <p:nvPr/>
        </p:nvSpPr>
        <p:spPr>
          <a:xfrm>
            <a:off x="7347204" y="4023359"/>
            <a:ext cx="182880" cy="182880"/>
          </a:xfrm>
          <a:prstGeom prst="up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Card 43"/>
          <p:cNvSpPr/>
          <p:nvPr/>
        </p:nvSpPr>
        <p:spPr>
          <a:xfrm>
            <a:off x="1645920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4" name="Pill 44"/>
          <p:cNvSpPr/>
          <p:nvPr/>
        </p:nvSpPr>
        <p:spPr>
          <a:xfrm>
            <a:off x="1965960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TECH 01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1828800" y="5093208"/>
            <a:ext cx="26060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KEY TECHNICAL DECISION</a:t>
            </a:r>
          </a:p>
          <a:p>
            <a:pPr>
              <a:spcBef>
                <a:spcPts val="3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Math first, LLM second. NumPy computes fit, PSCI and amortization deterministically, so no hallucinated careers or fees. Gemini only explains verified JSON.</a:t>
            </a:r>
          </a:p>
        </p:txBody>
      </p:sp>
      <p:sp>
        <p:nvSpPr>
          <p:cNvPr id="46" name="Card 46"/>
          <p:cNvSpPr/>
          <p:nvPr/>
        </p:nvSpPr>
        <p:spPr>
          <a:xfrm>
            <a:off x="4864608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7" name="Pill 47"/>
          <p:cNvSpPr/>
          <p:nvPr/>
        </p:nvSpPr>
        <p:spPr>
          <a:xfrm>
            <a:off x="5184648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TECH 02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5047488" y="5093208"/>
            <a:ext cx="26060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HARDEST PART</a:t>
            </a:r>
          </a:p>
          <a:p>
            <a:pPr>
              <a:spcBef>
                <a:spcPts val="3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Aligning student and parent vectors without discarding ambitious careers. PSCI plus a deficit solver bridge tuition gaps with scholarships before ranking.</a:t>
            </a:r>
          </a:p>
        </p:txBody>
      </p:sp>
      <p:sp>
        <p:nvSpPr>
          <p:cNvPr id="49" name="Card 49"/>
          <p:cNvSpPr/>
          <p:nvPr/>
        </p:nvSpPr>
        <p:spPr>
          <a:xfrm>
            <a:off x="8083296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50" name="Pill 50"/>
          <p:cNvSpPr/>
          <p:nvPr/>
        </p:nvSpPr>
        <p:spPr>
          <a:xfrm>
            <a:off x="8403336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TECH 03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8266176" y="5093208"/>
            <a:ext cx="26060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VALIDATION</a:t>
            </a:r>
          </a:p>
          <a:p>
            <a:pPr>
              <a:spcBef>
                <a:spcPts val="3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Edge-case unit tests (zero capital vs private fees; 100% risk aversion vs startups). Pipeline ~45 ms; ~1.2 s with Gemini; API failure falls back to math 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Kicker 51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52" name="Title 52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05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How the Engine Works</a:t>
            </a:r>
          </a:p>
        </p:txBody>
      </p:sp>
      <p:sp>
        <p:nvSpPr>
          <p:cNvPr id="53" name="Rule 53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54" name="Subtitle 54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Five deterministic stages · Transparent formulas · LLM explains, never scores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11680"/>
            <a:ext cx="941832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883664"/>
            <a:ext cx="19000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THE 5-STAGE PIPELINE</a:t>
            </a:r>
          </a:p>
        </p:txBody>
      </p:sp>
      <p:sp>
        <p:nvSpPr>
          <p:cNvPr id="33" name="Box 33"/>
          <p:cNvSpPr/>
          <p:nvPr/>
        </p:nvSpPr>
        <p:spPr>
          <a:xfrm>
            <a:off x="1828800" y="2377440"/>
            <a:ext cx="1620000" cy="2148840"/>
          </a:xfrm>
          <a:prstGeom prst="roundRect">
            <a:avLst>
              <a:gd name="adj" fmla="val 6000"/>
            </a:avLst>
          </a:prstGeom>
          <a:solidFill>
            <a:srgbClr val="E6F4FA"/>
          </a:solidFill>
          <a:ln w="19050">
            <a:solidFill>
              <a:srgbClr val="079ED2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00" b="1" dirty="0">
                <a:solidFill>
                  <a:srgbClr val="079ED2"/>
                </a:solidFill>
                <a:latin typeface="Fjalla One"/>
              </a:rPr>
              <a:t>1 · VECTORIZE</a:t>
            </a:r>
          </a:p>
          <a:p>
            <a:pPr>
              <a:spcBef>
                <a:spcPts val="2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Answers → [0,1]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Student: 10-D (6 RIASEC + 4 aptitude)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Parent: 4-D (budget, loan cap, risk, mobility)</a:t>
            </a:r>
          </a:p>
        </p:txBody>
      </p:sp>
      <p:sp>
        <p:nvSpPr>
          <p:cNvPr id="34" name="Arrow 34"/>
          <p:cNvSpPr/>
          <p:nvPr/>
        </p:nvSpPr>
        <p:spPr>
          <a:xfrm>
            <a:off x="3465800" y="3333000"/>
            <a:ext cx="203000" cy="203000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Box 35"/>
          <p:cNvSpPr/>
          <p:nvPr/>
        </p:nvSpPr>
        <p:spPr>
          <a:xfrm>
            <a:off x="3685800" y="2377440"/>
            <a:ext cx="1620000" cy="214884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FFB903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00" b="1" dirty="0">
                <a:solidFill>
                  <a:srgbClr val="D99A00"/>
                </a:solidFill>
                <a:latin typeface="Fjalla One"/>
              </a:rPr>
              <a:t>2 · FIT SCORER</a:t>
            </a:r>
          </a:p>
          <a:p>
            <a:pPr>
              <a:spcBef>
                <a:spcPts val="2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Cosine similarity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cos θ = s·c / (‖s‖·‖c‖)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Student vs 30 canonical career vectors</a:t>
            </a:r>
          </a:p>
        </p:txBody>
      </p:sp>
      <p:sp>
        <p:nvSpPr>
          <p:cNvPr id="36" name="Arrow 36"/>
          <p:cNvSpPr/>
          <p:nvPr/>
        </p:nvSpPr>
        <p:spPr>
          <a:xfrm>
            <a:off x="5322800" y="3333000"/>
            <a:ext cx="203000" cy="203000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Box 37"/>
          <p:cNvSpPr/>
          <p:nvPr/>
        </p:nvSpPr>
        <p:spPr>
          <a:xfrm>
            <a:off x="5542800" y="2377440"/>
            <a:ext cx="1620000" cy="2148840"/>
          </a:xfrm>
          <a:prstGeom prst="roundRect">
            <a:avLst>
              <a:gd name="adj" fmla="val 6000"/>
            </a:avLst>
          </a:prstGeom>
          <a:solidFill>
            <a:srgbClr val="E3F6EC"/>
          </a:solidFill>
          <a:ln w="19050">
            <a:solidFill>
              <a:srgbClr val="1E9E6A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00" b="1" dirty="0">
                <a:solidFill>
                  <a:srgbClr val="1E9E6A"/>
                </a:solidFill>
                <a:latin typeface="Fjalla One"/>
              </a:rPr>
              <a:t>3 · FINANCE</a:t>
            </a:r>
          </a:p>
          <a:p>
            <a:pPr>
              <a:spcBef>
                <a:spcPts val="2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Deficit amortization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Net = Fees − Scholarships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EMI = P·r(1+r)^n / ((1+r)^n − 1)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r = 8.5% p.a. ÷ 12; then payback, ROI</a:t>
            </a:r>
          </a:p>
        </p:txBody>
      </p:sp>
      <p:sp>
        <p:nvSpPr>
          <p:cNvPr id="38" name="Arrow 38"/>
          <p:cNvSpPr/>
          <p:nvPr/>
        </p:nvSpPr>
        <p:spPr>
          <a:xfrm>
            <a:off x="7179800" y="3333000"/>
            <a:ext cx="203000" cy="203000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Box 39"/>
          <p:cNvSpPr/>
          <p:nvPr/>
        </p:nvSpPr>
        <p:spPr>
          <a:xfrm>
            <a:off x="7399800" y="2377440"/>
            <a:ext cx="1620000" cy="2148840"/>
          </a:xfrm>
          <a:prstGeom prst="roundRect">
            <a:avLst>
              <a:gd name="adj" fmla="val 6000"/>
            </a:avLst>
          </a:prstGeom>
          <a:solidFill>
            <a:srgbClr val="FFE3F1"/>
          </a:solidFill>
          <a:ln w="19050">
            <a:solidFill>
              <a:srgbClr val="FD1485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00" b="1" dirty="0">
                <a:solidFill>
                  <a:srgbClr val="FD1485"/>
                </a:solidFill>
                <a:latin typeface="Fjalla One"/>
              </a:rPr>
              <a:t>4 · PSCI</a:t>
            </a:r>
          </a:p>
          <a:p>
            <a:pPr>
              <a:spcBef>
                <a:spcPts val="2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Weighted Euclidean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PSCI = √ Σ wᵢ(sᵢ − pᵢ)²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Over risk, cost, mobility; scaled 0–100</a:t>
            </a:r>
          </a:p>
        </p:txBody>
      </p:sp>
      <p:sp>
        <p:nvSpPr>
          <p:cNvPr id="40" name="Arrow 40"/>
          <p:cNvSpPr/>
          <p:nvPr/>
        </p:nvSpPr>
        <p:spPr>
          <a:xfrm>
            <a:off x="9036800" y="3333000"/>
            <a:ext cx="203000" cy="203000"/>
          </a:xfrm>
          <a:prstGeom prst="rightArrow">
            <a:avLst/>
          </a:prstGeom>
          <a:solidFill>
            <a:srgbClr val="3533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Box 41"/>
          <p:cNvSpPr/>
          <p:nvPr/>
        </p:nvSpPr>
        <p:spPr>
          <a:xfrm>
            <a:off x="9256800" y="2377440"/>
            <a:ext cx="1620000" cy="2148840"/>
          </a:xfrm>
          <a:prstGeom prst="roundRect">
            <a:avLst>
              <a:gd name="adj" fmla="val 6000"/>
            </a:avLst>
          </a:prstGeom>
          <a:solidFill>
            <a:srgbClr val="EFE6F7"/>
          </a:solidFill>
          <a:ln w="19050">
            <a:solidFill>
              <a:srgbClr val="7E4FB5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00" b="1" dirty="0">
                <a:solidFill>
                  <a:srgbClr val="7E4FB5"/>
                </a:solidFill>
                <a:latin typeface="Fjalla One"/>
              </a:rPr>
              <a:t>5 · MAUT RANKER</a:t>
            </a:r>
          </a:p>
          <a:p>
            <a:pPr>
              <a:spcBef>
                <a:spcPts val="2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Multi-attribute utility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U = 0.45·Fit + 0.35·Afford + 0.20·Demand</a:t>
            </a:r>
          </a:p>
          <a:p>
            <a:pPr marL="128016" indent="-128016">
              <a:spcBef>
                <a:spcPts val="3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Top-3 + compromise career</a:t>
            </a:r>
          </a:p>
        </p:txBody>
      </p:sp>
      <p:sp>
        <p:nvSpPr>
          <p:cNvPr id="42" name="Card 42"/>
          <p:cNvSpPr/>
          <p:nvPr/>
        </p:nvSpPr>
        <p:spPr>
          <a:xfrm>
            <a:off x="1645920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3" name="Pill 43"/>
          <p:cNvSpPr/>
          <p:nvPr/>
        </p:nvSpPr>
        <p:spPr>
          <a:xfrm>
            <a:off x="1965960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NO HALLUCINATION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1828800" y="5093208"/>
            <a:ext cx="26060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MATH FIRST</a:t>
            </a:r>
          </a:p>
          <a:p>
            <a:pPr>
              <a:spcBef>
                <a:spcPts val="3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Every score, EMI and conflict value is computed by NumPy. Gemini only receives the verified JSON and explains it in plain language.</a:t>
            </a:r>
          </a:p>
        </p:txBody>
      </p:sp>
      <p:sp>
        <p:nvSpPr>
          <p:cNvPr id="45" name="Card 45"/>
          <p:cNvSpPr/>
          <p:nvPr/>
        </p:nvSpPr>
        <p:spPr>
          <a:xfrm>
            <a:off x="4864608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6" name="Pill 46"/>
          <p:cNvSpPr/>
          <p:nvPr/>
        </p:nvSpPr>
        <p:spPr>
          <a:xfrm>
            <a:off x="5184648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5 HARD METRICS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5047488" y="5093208"/>
            <a:ext cx="26060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WHAT THE ENGINE RETURNS</a:t>
            </a:r>
          </a:p>
          <a:p>
            <a:pPr>
              <a:spcBef>
                <a:spcPts val="3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Career Fit · Financial Feasibility (net EMI) · PSCI · Compromise Success · ROI Multiplier (lifetime earnings vs debt).</a:t>
            </a:r>
          </a:p>
        </p:txBody>
      </p:sp>
      <p:sp>
        <p:nvSpPr>
          <p:cNvPr id="48" name="Card 48"/>
          <p:cNvSpPr/>
          <p:nvPr/>
        </p:nvSpPr>
        <p:spPr>
          <a:xfrm>
            <a:off x="8083296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9" name="Pill 49"/>
          <p:cNvSpPr/>
          <p:nvPr/>
        </p:nvSpPr>
        <p:spPr>
          <a:xfrm>
            <a:off x="8403336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SPEED &amp; FALLBACK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8266176" y="5093208"/>
            <a:ext cx="26060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BUILT FOR LIVE USE</a:t>
            </a:r>
          </a:p>
          <a:p>
            <a:pPr>
              <a:spcBef>
                <a:spcPts val="3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Math pipeline ~45 ms on CPU; ~1.2 s with Gemini. If the API fails, the UI falls back to math cards and rule-based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Kicker 43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4" name="Title 44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06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Worked Example</a:t>
            </a:r>
          </a:p>
        </p:txBody>
      </p:sp>
      <p:sp>
        <p:nvSpPr>
          <p:cNvPr id="45" name="Rule 45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6" name="Subtitle 46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One real run of the engine · Inputs → ranked, affordable, conflict-aware output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4572000" cy="1463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STUDENT INPUT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20240" y="2286000"/>
            <a:ext cx="4023360" cy="1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PSYCHOMETRIC PROFILE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Orientation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 Investigative + Social (strong signal)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Aptitude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 Logical-Math, Verbal, Spatial, Interpersonal (high)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Blind spots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 none detected, well-rounded</a:t>
            </a:r>
          </a:p>
        </p:txBody>
      </p:sp>
      <p:sp>
        <p:nvSpPr>
          <p:cNvPr id="34" name="Card 34"/>
          <p:cNvSpPr/>
          <p:nvPr/>
        </p:nvSpPr>
        <p:spPr>
          <a:xfrm>
            <a:off x="6492240" y="2057400"/>
            <a:ext cx="4572000" cy="1463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5" name="Pill 35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PARENT INPUT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766560" y="2286000"/>
            <a:ext cx="4023360" cy="1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FAMILY CONSTRAINTS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Max budget: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₹5,00,000   ·   Loan tolerance: ₹2,00,000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Mobility: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own state   ·   Risk level: 4 / 5</a:t>
            </a:r>
          </a:p>
          <a:p>
            <a:pPr>
              <a:spcBef>
                <a:spcPts val="300"/>
              </a:spcBef>
            </a:pPr>
            <a:r>
              <a:rPr lang="en-US" sz="950" i="1" dirty="0">
                <a:solidFill>
                  <a:srgbClr val="6E6E73"/>
                </a:solidFill>
                <a:latin typeface="Mulish"/>
              </a:rPr>
              <a:t>Entered once by the parent, on the same platform.</a:t>
            </a:r>
          </a:p>
        </p:txBody>
      </p:sp>
      <p:sp>
        <p:nvSpPr>
          <p:cNvPr id="37" name="Card 37"/>
          <p:cNvSpPr/>
          <p:nvPr/>
        </p:nvSpPr>
        <p:spPr>
          <a:xfrm>
            <a:off x="1645920" y="3931920"/>
            <a:ext cx="9418320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8" name="Pill 38"/>
          <p:cNvSpPr/>
          <p:nvPr/>
        </p:nvSpPr>
        <p:spPr>
          <a:xfrm>
            <a:off x="1965960" y="3803904"/>
            <a:ext cx="24000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ENGINE OUTPUT · MAUT RANKED</a:t>
            </a:r>
          </a:p>
        </p:txBody>
      </p:sp>
      <p:sp>
        <p:nvSpPr>
          <p:cNvPr id="39" name="Box 39"/>
          <p:cNvSpPr/>
          <p:nvPr/>
        </p:nvSpPr>
        <p:spPr>
          <a:xfrm>
            <a:off x="1828800" y="4206240"/>
            <a:ext cx="2880360" cy="146304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FFB903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Fjalla One"/>
              </a:rPr>
              <a:t>#1  REGISTERED NURSE</a:t>
            </a:r>
          </a:p>
          <a:p>
            <a:pPr>
              <a:spcBef>
                <a:spcPts val="3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Fit 79%  ·  Demand 88%</a:t>
            </a:r>
          </a:p>
          <a:p>
            <a:pPr>
              <a:spcBef>
                <a:spcPts val="1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ROI 4.92x  ·  EMI ₹1,583.65</a:t>
            </a:r>
          </a:p>
          <a:p>
            <a:pPr>
              <a:spcBef>
                <a:spcPts val="1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MAUT score 0.85</a:t>
            </a:r>
          </a:p>
          <a:p>
            <a:pPr>
              <a:spcBef>
                <a:spcPts val="300"/>
              </a:spcBef>
            </a:pPr>
            <a:r>
              <a:rPr lang="en-US" sz="850" b="1" dirty="0">
                <a:solidFill>
                  <a:srgbClr val="C98A00"/>
                </a:solidFill>
                <a:latin typeface="Mulish"/>
              </a:rPr>
              <a:t>AFFORDABLE WITH SMALL LOAN</a:t>
            </a:r>
          </a:p>
        </p:txBody>
      </p:sp>
      <p:sp>
        <p:nvSpPr>
          <p:cNvPr id="40" name="Box 40"/>
          <p:cNvSpPr/>
          <p:nvPr/>
        </p:nvSpPr>
        <p:spPr>
          <a:xfrm>
            <a:off x="4914900" y="4206240"/>
            <a:ext cx="2880360" cy="1463040"/>
          </a:xfrm>
          <a:prstGeom prst="roundRect">
            <a:avLst>
              <a:gd name="adj" fmla="val 6000"/>
            </a:avLst>
          </a:prstGeom>
          <a:solidFill>
            <a:srgbClr val="E6F4FA"/>
          </a:solidFill>
          <a:ln w="19050">
            <a:solidFill>
              <a:srgbClr val="079ED2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Fjalla One"/>
              </a:rPr>
              <a:t>#2  CHARTERED ACCOUNTANT</a:t>
            </a:r>
          </a:p>
          <a:p>
            <a:pPr>
              <a:spcBef>
                <a:spcPts val="3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Fit 66%  ·  Demand 85%</a:t>
            </a:r>
          </a:p>
          <a:p>
            <a:pPr>
              <a:spcBef>
                <a:spcPts val="1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ROI 13.78x  ·  EMI ₹0</a:t>
            </a:r>
          </a:p>
          <a:p>
            <a:pPr>
              <a:spcBef>
                <a:spcPts val="1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MAUT score 0.82</a:t>
            </a:r>
          </a:p>
          <a:p>
            <a:pPr>
              <a:spcBef>
                <a:spcPts val="300"/>
              </a:spcBef>
            </a:pPr>
            <a:r>
              <a:rPr lang="en-US" sz="850" b="1" dirty="0">
                <a:solidFill>
                  <a:srgbClr val="079ED2"/>
                </a:solidFill>
                <a:latin typeface="Mulish"/>
              </a:rPr>
              <a:t>FULLY AFFORDABLE</a:t>
            </a:r>
          </a:p>
        </p:txBody>
      </p:sp>
      <p:sp>
        <p:nvSpPr>
          <p:cNvPr id="41" name="Box 41"/>
          <p:cNvSpPr/>
          <p:nvPr/>
        </p:nvSpPr>
        <p:spPr>
          <a:xfrm>
            <a:off x="8001000" y="4206240"/>
            <a:ext cx="2880360" cy="1463040"/>
          </a:xfrm>
          <a:prstGeom prst="roundRect">
            <a:avLst>
              <a:gd name="adj" fmla="val 6000"/>
            </a:avLst>
          </a:prstGeom>
          <a:solidFill>
            <a:srgbClr val="FFE3F1"/>
          </a:solidFill>
          <a:ln w="19050">
            <a:solidFill>
              <a:srgbClr val="FD1485"/>
            </a:solidFill>
          </a:ln>
        </p:spPr>
        <p:txBody>
          <a:bodyPr wrap="square" lIns="73152" tIns="54864" rIns="73152" bIns="36576" rtlCol="0" anchor="t"/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Fjalla One"/>
              </a:rPr>
              <a:t>#3  PHYSIOTHERAPIST</a:t>
            </a:r>
          </a:p>
          <a:p>
            <a:pPr>
              <a:spcBef>
                <a:spcPts val="3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Fit 75%  ·  Demand 65%</a:t>
            </a:r>
          </a:p>
          <a:p>
            <a:pPr>
              <a:spcBef>
                <a:spcPts val="1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ROI 4.22x  ·  EMI ₹3,167.3</a:t>
            </a:r>
          </a:p>
          <a:p>
            <a:pPr>
              <a:spcBef>
                <a:spcPts val="100"/>
              </a:spcBef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MAUT score 0.77</a:t>
            </a:r>
          </a:p>
          <a:p>
            <a:pPr>
              <a:spcBef>
                <a:spcPts val="300"/>
              </a:spcBef>
            </a:pPr>
            <a:r>
              <a:rPr lang="en-US" sz="850" b="1" dirty="0">
                <a:solidFill>
                  <a:srgbClr val="FD1485"/>
                </a:solidFill>
                <a:latin typeface="Mulish"/>
              </a:rPr>
              <a:t>AFFORDABLE WITH SIGNIFICANT LOAN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828800" y="5760720"/>
            <a:ext cx="9052560" cy="7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PSCI 5/100 = LOW CONFLICT.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Domain preferences, risk tolerance and location flexibility are well aligned. PRISM compromise careers: nursing, physiotherapy, environmental scientist, doctor MBBS, software engineer.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Kicker 41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2" name="Title 42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07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Product: Assessment</a:t>
            </a:r>
          </a:p>
        </p:txBody>
      </p:sp>
      <p:sp>
        <p:nvSpPr>
          <p:cNvPr id="43" name="Rule 43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4" name="Subtitle 44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Live build · Gamified student ingestion · Parent constraints captured alongside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594360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20000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LANDING · RUN ASSESSMENT</a:t>
            </a:r>
          </a:p>
        </p:txBody>
      </p:sp>
      <p:pic>
        <p:nvPicPr>
          <p:cNvPr id="33" name="Screenshot 33" descr="PRISM landing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242" y="2286000"/>
            <a:ext cx="5408955" cy="2400000"/>
          </a:xfrm>
          <a:prstGeom prst="rect">
            <a:avLst/>
          </a:prstGeom>
          <a:ln w="12700">
            <a:solidFill>
              <a:srgbClr val="353334"/>
            </a:solidFill>
          </a:ln>
        </p:spPr>
      </p:pic>
      <p:sp>
        <p:nvSpPr>
          <p:cNvPr id="34" name="Card 34"/>
          <p:cNvSpPr/>
          <p:nvPr/>
        </p:nvSpPr>
        <p:spPr>
          <a:xfrm>
            <a:off x="1645920" y="5120640"/>
            <a:ext cx="594360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5" name="Pill 35"/>
          <p:cNvSpPr/>
          <p:nvPr/>
        </p:nvSpPr>
        <p:spPr>
          <a:xfrm>
            <a:off x="1965960" y="4992624"/>
            <a:ext cx="20000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WHAT THE STUDENT DOES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920240" y="5349240"/>
            <a:ext cx="5400000" cy="11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GAMIFIED INGESTION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Duolingo-style vertical node flow: 6 missions, no exam feel.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Situational choices are scored into RIASEC and aptitude traits.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Then the parent step: budget, loan tolerance, distance, risk.</a:t>
            </a:r>
          </a:p>
        </p:txBody>
      </p:sp>
      <p:sp>
        <p:nvSpPr>
          <p:cNvPr id="37" name="Card 37"/>
          <p:cNvSpPr/>
          <p:nvPr/>
        </p:nvSpPr>
        <p:spPr>
          <a:xfrm>
            <a:off x="7818120" y="2057400"/>
            <a:ext cx="3246120" cy="4480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8" name="Pill 38"/>
          <p:cNvSpPr/>
          <p:nvPr/>
        </p:nvSpPr>
        <p:spPr>
          <a:xfrm>
            <a:off x="81381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MISSION 2 OF 6</a:t>
            </a:r>
          </a:p>
        </p:txBody>
      </p:sp>
      <p:pic>
        <p:nvPicPr>
          <p:cNvPr id="39" name="Screenshot 39" descr="Gamified assessment mission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174" y="2286000"/>
            <a:ext cx="2456011" cy="3350000"/>
          </a:xfrm>
          <a:prstGeom prst="rect">
            <a:avLst/>
          </a:prstGeom>
          <a:ln w="12700">
            <a:solidFill>
              <a:srgbClr val="353334"/>
            </a:solidFill>
          </a:ln>
        </p:spPr>
      </p:pic>
      <p:sp>
        <p:nvSpPr>
          <p:cNvPr id="40" name="Text 40"/>
          <p:cNvSpPr txBox="1"/>
          <p:nvPr/>
        </p:nvSpPr>
        <p:spPr>
          <a:xfrm>
            <a:off x="8001000" y="5716000"/>
            <a:ext cx="2880360" cy="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REALISTIC SCENARIOS</a:t>
            </a:r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A design challenge replaces a questionnaire; the choice reveals preferences, creativity and attention to detail.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Kicker 46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7" name="Title 47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08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Product: Dashboard</a:t>
            </a:r>
          </a:p>
        </p:txBody>
      </p:sp>
      <p:sp>
        <p:nvSpPr>
          <p:cNvPr id="48" name="Rule 48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9" name="Subtitle 49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Live build · Decision console · Career, cost and family fit on one screen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658368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20000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PRISM DECISION CONSOLE</a:t>
            </a:r>
          </a:p>
        </p:txBody>
      </p:sp>
      <p:pic>
        <p:nvPicPr>
          <p:cNvPr id="33" name="Screenshot 33" descr="PRISM decis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423" y="2286000"/>
            <a:ext cx="5542672" cy="2480000"/>
          </a:xfrm>
          <a:prstGeom prst="rect">
            <a:avLst/>
          </a:prstGeom>
          <a:ln w="12700">
            <a:solidFill>
              <a:srgbClr val="353334"/>
            </a:solidFill>
          </a:ln>
        </p:spPr>
      </p:pic>
      <p:sp>
        <p:nvSpPr>
          <p:cNvPr id="34" name="Card 34"/>
          <p:cNvSpPr/>
          <p:nvPr/>
        </p:nvSpPr>
        <p:spPr>
          <a:xfrm>
            <a:off x="8412480" y="2057400"/>
            <a:ext cx="265176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5" name="Pill 35"/>
          <p:cNvSpPr/>
          <p:nvPr/>
        </p:nvSpPr>
        <p:spPr>
          <a:xfrm>
            <a:off x="873252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HOW TO READ IT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503920" y="2286000"/>
            <a:ext cx="2468880" cy="25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DASHBOARD MAP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b="1" dirty="0">
                <a:solidFill>
                  <a:srgbClr val="353334"/>
                </a:solidFill>
                <a:latin typeface="Mulish"/>
              </a:rPr>
              <a:t>Headline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  top match, best value, PSCI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b="1" dirty="0">
                <a:solidFill>
                  <a:srgbClr val="353334"/>
                </a:solidFill>
                <a:latin typeface="Mulish"/>
              </a:rPr>
              <a:t>3 pathways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  fit, ROI, EMI, demand, tag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b="1" dirty="0">
                <a:solidFill>
                  <a:srgbClr val="353334"/>
                </a:solidFill>
                <a:latin typeface="Mulish"/>
              </a:rPr>
              <a:t>Alignment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  PSCI + compromise careers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b="1" dirty="0">
                <a:solidFill>
                  <a:srgbClr val="353334"/>
                </a:solidFill>
                <a:latin typeface="Mulish"/>
              </a:rPr>
              <a:t>Constraints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  parent inputs, always visible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b="1" dirty="0">
                <a:solidFill>
                  <a:srgbClr val="353334"/>
                </a:solidFill>
                <a:latin typeface="Mulish"/>
              </a:rPr>
              <a:t>Counselor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  chat, 4 languages, PDF</a:t>
            </a:r>
          </a:p>
        </p:txBody>
      </p:sp>
      <p:sp>
        <p:nvSpPr>
          <p:cNvPr id="37" name="Card 37"/>
          <p:cNvSpPr/>
          <p:nvPr/>
        </p:nvSpPr>
        <p:spPr>
          <a:xfrm>
            <a:off x="1645920" y="5120640"/>
            <a:ext cx="297180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8" name="Pill 38"/>
          <p:cNvSpPr/>
          <p:nvPr/>
        </p:nvSpPr>
        <p:spPr>
          <a:xfrm>
            <a:off x="1965960" y="49926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TOP 3 PATHWAYS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828800" y="5303520"/>
            <a:ext cx="2606040" cy="1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RANKED BY MAUT</a:t>
            </a:r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Registered Nurse: 79% fit, 4.92x ROI, EMI ₹1,583.65. CA is fully affordable; Physiotherapist needs a significant loan.</a:t>
            </a:r>
          </a:p>
        </p:txBody>
      </p:sp>
      <p:sp>
        <p:nvSpPr>
          <p:cNvPr id="40" name="Card 40"/>
          <p:cNvSpPr/>
          <p:nvPr/>
        </p:nvSpPr>
        <p:spPr>
          <a:xfrm>
            <a:off x="4864608" y="5120640"/>
            <a:ext cx="297180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1" name="Pill 41"/>
          <p:cNvSpPr/>
          <p:nvPr/>
        </p:nvSpPr>
        <p:spPr>
          <a:xfrm>
            <a:off x="5184648" y="49926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FAMILY ALIGNMENT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047488" y="5303520"/>
            <a:ext cx="2606040" cy="1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PSCI 5/100 · LOW</a:t>
            </a:r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Domain, risk and mobility are well matched, so compromise careers overlap with the student’s top picks.</a:t>
            </a:r>
          </a:p>
        </p:txBody>
      </p:sp>
      <p:sp>
        <p:nvSpPr>
          <p:cNvPr id="43" name="Card 43"/>
          <p:cNvSpPr/>
          <p:nvPr/>
        </p:nvSpPr>
        <p:spPr>
          <a:xfrm>
            <a:off x="8083296" y="5120640"/>
            <a:ext cx="297180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4" name="Pill 44"/>
          <p:cNvSpPr/>
          <p:nvPr/>
        </p:nvSpPr>
        <p:spPr>
          <a:xfrm>
            <a:off x="8403336" y="49926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AI COUNSELOR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8266176" y="5303520"/>
            <a:ext cx="2606040" cy="1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EXPLAINS THE MATH</a:t>
            </a:r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Gemini turns verified numbers into exam routes (e.g. NEET UG for B.Sc. Nursing), prep timeline and scholarship windows.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Kicker 39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0" name="Title 4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09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Product: Insights</a:t>
            </a:r>
          </a:p>
        </p:txBody>
      </p:sp>
      <p:sp>
        <p:nvSpPr>
          <p:cNvPr id="41" name="Rule 4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2" name="Subtitle 4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Live build · Psychometric SWOT · Cost vs value · Financial reality check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4572000" cy="4480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2000000" cy="256032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SWOT + RIASEC RADAR</a:t>
            </a:r>
          </a:p>
        </p:txBody>
      </p:sp>
      <p:pic>
        <p:nvPicPr>
          <p:cNvPr id="33" name="Screenshot 33" descr="Psychometric SWOT and RIASEC ra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86000"/>
            <a:ext cx="4206240" cy="2506749"/>
          </a:xfrm>
          <a:prstGeom prst="rect">
            <a:avLst/>
          </a:prstGeom>
          <a:ln w="12700">
            <a:solidFill>
              <a:srgbClr val="353334"/>
            </a:solidFill>
          </a:ln>
        </p:spPr>
      </p:pic>
      <p:sp>
        <p:nvSpPr>
          <p:cNvPr id="34" name="Text 34"/>
          <p:cNvSpPr txBox="1"/>
          <p:nvPr/>
        </p:nvSpPr>
        <p:spPr>
          <a:xfrm>
            <a:off x="1828800" y="5100000"/>
            <a:ext cx="42062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ENGINE-GENERATED INSIGHTS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Strengths and opportunities come straight from engine scores (top-3 composite: 0.85, 0.82, 0.77).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Radar overlays the student profile on the top-career benchmark.</a:t>
            </a:r>
          </a:p>
        </p:txBody>
      </p:sp>
      <p:sp>
        <p:nvSpPr>
          <p:cNvPr id="35" name="Card 35"/>
          <p:cNvSpPr/>
          <p:nvPr/>
        </p:nvSpPr>
        <p:spPr>
          <a:xfrm>
            <a:off x="6492240" y="2057400"/>
            <a:ext cx="4572000" cy="4480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6" name="Pill 36"/>
          <p:cNvSpPr/>
          <p:nvPr/>
        </p:nvSpPr>
        <p:spPr>
          <a:xfrm>
            <a:off x="6812280" y="1929384"/>
            <a:ext cx="20000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COST vs VALUE + AID</a:t>
            </a:r>
          </a:p>
        </p:txBody>
      </p:sp>
      <p:pic>
        <p:nvPicPr>
          <p:cNvPr id="37" name="Screenshot 37" descr="Cost versus value quadrant, financial reality and scholarshi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145" y="2286000"/>
            <a:ext cx="3902189" cy="2700000"/>
          </a:xfrm>
          <a:prstGeom prst="rect">
            <a:avLst/>
          </a:prstGeom>
          <a:ln w="12700">
            <a:solidFill>
              <a:srgbClr val="353334"/>
            </a:solidFill>
          </a:ln>
        </p:spPr>
      </p:pic>
      <p:sp>
        <p:nvSpPr>
          <p:cNvPr id="38" name="Text 38"/>
          <p:cNvSpPr txBox="1"/>
          <p:nvPr/>
        </p:nvSpPr>
        <p:spPr>
          <a:xfrm>
            <a:off x="6675120" y="5100000"/>
            <a:ext cx="42062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CAN THE FAMILY AFFORD IT?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Each career is a dot: cost vs ROI multiplier, split into Golden, Premium, Safe and Danger zones.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Nurse: EMI ₹1,583.65, ROI 4.92x, payback 10 yrs; 5 schemes matched (PM Vidya Lakshmi, NSP, CSIS…).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Kicker 48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9" name="Title 49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10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Product: Map &amp; Languages</a:t>
            </a:r>
          </a:p>
        </p:txBody>
      </p:sp>
      <p:sp>
        <p:nvSpPr>
          <p:cNvPr id="50" name="Rule 50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51" name="Subtitle 51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Live build · Hyper-local institutions · Language-inclusive counselling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457200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2000000" cy="256032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HYPER-LOCAL INSTITUTIONS</a:t>
            </a:r>
          </a:p>
        </p:txBody>
      </p:sp>
      <p:pic>
        <p:nvPicPr>
          <p:cNvPr id="33" name="Screenshot 33" descr="Hyper-local institutions map sec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86000"/>
            <a:ext cx="4206240" cy="1380836"/>
          </a:xfrm>
          <a:prstGeom prst="rect">
            <a:avLst/>
          </a:prstGeom>
          <a:ln w="12700">
            <a:solidFill>
              <a:srgbClr val="353334"/>
            </a:solidFill>
          </a:ln>
        </p:spPr>
      </p:pic>
      <p:sp>
        <p:nvSpPr>
          <p:cNvPr id="34" name="Text 34"/>
          <p:cNvSpPr txBox="1"/>
          <p:nvPr/>
        </p:nvSpPr>
        <p:spPr>
          <a:xfrm>
            <a:off x="1828800" y="4400000"/>
            <a:ext cx="4206240" cy="3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900" i="1" dirty="0">
                <a:solidFill>
                  <a:srgbClr val="6E6E73"/>
                </a:solidFill>
                <a:latin typeface="Mulish"/>
              </a:rPr>
              <a:t>Searching “Registered Nurse Colleges” near the student.</a:t>
            </a:r>
          </a:p>
        </p:txBody>
      </p:sp>
      <p:sp>
        <p:nvSpPr>
          <p:cNvPr id="35" name="Card 35"/>
          <p:cNvSpPr/>
          <p:nvPr/>
        </p:nvSpPr>
        <p:spPr>
          <a:xfrm>
            <a:off x="6492240" y="2057400"/>
            <a:ext cx="457200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6" name="Pill 36"/>
          <p:cNvSpPr/>
          <p:nvPr/>
        </p:nvSpPr>
        <p:spPr>
          <a:xfrm>
            <a:off x="6812280" y="1929384"/>
            <a:ext cx="20000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OPEN IN GOOGLE MAPS</a:t>
            </a:r>
          </a:p>
        </p:txBody>
      </p:sp>
      <p:pic>
        <p:nvPicPr>
          <p:cNvPr id="37" name="Screenshot 37" descr="Nursing colleges near the student in Google Ma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074" y="2286000"/>
            <a:ext cx="3026330" cy="2050000"/>
          </a:xfrm>
          <a:prstGeom prst="rect">
            <a:avLst/>
          </a:prstGeom>
          <a:ln w="12700">
            <a:solidFill>
              <a:srgbClr val="353334"/>
            </a:solidFill>
          </a:ln>
        </p:spPr>
      </p:pic>
      <p:sp>
        <p:nvSpPr>
          <p:cNvPr id="38" name="Text 38"/>
          <p:cNvSpPr txBox="1"/>
          <p:nvPr/>
        </p:nvSpPr>
        <p:spPr>
          <a:xfrm>
            <a:off x="6675120" y="4400000"/>
            <a:ext cx="4206240" cy="3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900" i="1" dirty="0">
                <a:solidFill>
                  <a:srgbClr val="6E6E73"/>
                </a:solidFill>
                <a:latin typeface="Mulish"/>
              </a:rPr>
              <a:t>One tap opens the full list with ratings, hours and directions.</a:t>
            </a:r>
          </a:p>
        </p:txBody>
      </p:sp>
      <p:sp>
        <p:nvSpPr>
          <p:cNvPr id="39" name="Card 39"/>
          <p:cNvSpPr/>
          <p:nvPr/>
        </p:nvSpPr>
        <p:spPr>
          <a:xfrm>
            <a:off x="1645920" y="5120640"/>
            <a:ext cx="297180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0" name="Pill 40"/>
          <p:cNvSpPr/>
          <p:nvPr/>
        </p:nvSpPr>
        <p:spPr>
          <a:xfrm>
            <a:off x="1965960" y="49926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HOW IT WORKS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828800" y="5303520"/>
            <a:ext cx="2606040" cy="1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FROM DEGREE TO DOORSTEP</a:t>
            </a:r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The student’s location drives a search for institutions offering the recommended degree; colleges and demand hubs are plotted.</a:t>
            </a:r>
          </a:p>
        </p:txBody>
      </p:sp>
      <p:sp>
        <p:nvSpPr>
          <p:cNvPr id="42" name="Card 42"/>
          <p:cNvSpPr/>
          <p:nvPr/>
        </p:nvSpPr>
        <p:spPr>
          <a:xfrm>
            <a:off x="4864608" y="5120640"/>
            <a:ext cx="297180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3" name="Pill 43"/>
          <p:cNvSpPr/>
          <p:nvPr/>
        </p:nvSpPr>
        <p:spPr>
          <a:xfrm>
            <a:off x="5184648" y="49926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WITHIN FAMILY LIMITS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5047488" y="5303520"/>
            <a:ext cx="2606040" cy="1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RESPECTS PARENT INPUT</a:t>
            </a:r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The parent’s mobility setting (own state or radius) caps how far options reach, so suggestions fit the family.</a:t>
            </a:r>
          </a:p>
        </p:txBody>
      </p:sp>
      <p:sp>
        <p:nvSpPr>
          <p:cNvPr id="45" name="Card 45"/>
          <p:cNvSpPr/>
          <p:nvPr/>
        </p:nvSpPr>
        <p:spPr>
          <a:xfrm>
            <a:off x="8083296" y="5120640"/>
            <a:ext cx="297180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6" name="Pill 46"/>
          <p:cNvSpPr/>
          <p:nvPr/>
        </p:nvSpPr>
        <p:spPr>
          <a:xfrm>
            <a:off x="8403336" y="49926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7E4FB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MULTILINGUAL + PDF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8266176" y="5303520"/>
            <a:ext cx="2606040" cy="1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FOR THE WHOLE FAMILY</a:t>
            </a:r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Dashboard and counselor switch between English, Hindi, Tamil and Telugu; the report downloads as a PDF to share.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Kicker 43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4" name="Title 44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11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Feasibility &amp; Scope</a:t>
            </a:r>
          </a:p>
        </p:txBody>
      </p:sp>
      <p:sp>
        <p:nvSpPr>
          <p:cNvPr id="45" name="Rule 45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6" name="Subtitle 46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Concrete boundaries · Operational run rate · Risk mitigation · Post-hackathon plans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01 · BOUNDARIES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20240" y="2313432"/>
            <a:ext cx="4023360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1. SCOPE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In: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dual-stakeholder assessment, real-time vectorization, PSCI, deficit and EMI solver with payback, scholarship matching, institution map, multilingual Gemini counselor, PDF report.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Out (this version):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live bank or credit APIs, live job-posting scrapers (curated demand index instead), native mobile apps.</a:t>
            </a:r>
          </a:p>
        </p:txBody>
      </p:sp>
      <p:sp>
        <p:nvSpPr>
          <p:cNvPr id="34" name="Card 34"/>
          <p:cNvSpPr/>
          <p:nvPr/>
        </p:nvSpPr>
        <p:spPr>
          <a:xfrm>
            <a:off x="649224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5" name="Pill 35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02 · ECONOMICS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766560" y="2313432"/>
            <a:ext cx="4023360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2. RUNNING COST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Hosting: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$0/month on free tiers (FastAPI backend, React app on Vercel).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Data: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$0: SQLite and version-tagged JSON.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AI: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Gemini Flash free tier; a few thousand tokens per assessment, well under ₹1 per student at scale (estimate).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Compute: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core math runs on CPU; no GPU.</a:t>
            </a:r>
          </a:p>
        </p:txBody>
      </p:sp>
      <p:sp>
        <p:nvSpPr>
          <p:cNvPr id="37" name="Card 37"/>
          <p:cNvSpPr/>
          <p:nvPr/>
        </p:nvSpPr>
        <p:spPr>
          <a:xfrm>
            <a:off x="164592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8" name="Pill 38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03 · CONTINGENCY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920240" y="4645152"/>
            <a:ext cx="4023360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3. RISKS &amp; FALLBACK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LLM outage or quota limit: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graceful degradation. Top-3, EMI and PSCI are computed locally; the UI shows math cards and rule-based insights.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Data drift: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demand index and scholarship data are version-tagged and updated offline.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Misuse: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positioned as decision support beside human counsellors.</a:t>
            </a:r>
          </a:p>
        </p:txBody>
      </p:sp>
      <p:sp>
        <p:nvSpPr>
          <p:cNvPr id="40" name="Card 40"/>
          <p:cNvSpPr/>
          <p:nvPr/>
        </p:nvSpPr>
        <p:spPr>
          <a:xfrm>
            <a:off x="649224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1" name="Pill 41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7E4FB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04 · HORIZON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766560" y="4645152"/>
            <a:ext cx="4023360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4. AFTER THE HACKATHON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Real-family pilot: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validate PSCI with schools and parents.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Live financial rails: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Vidya Lakshmi portal and bank APIs for loan pre-qualification.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Voice counselling: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Hindi, Tamil, Telugu voice for non-English-literate parents.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Richer maps: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Places API for incubators and government colleges.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Kicker 46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7" name="Title 47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12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Impact &amp; Metrics</a:t>
            </a:r>
          </a:p>
        </p:txBody>
      </p:sp>
      <p:sp>
        <p:nvSpPr>
          <p:cNvPr id="48" name="Rule 48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9" name="Subtitle 49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Primary measurable impact · Transparent calculation · Stakeholder advantages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3017520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PRIMARY METRIC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828800" y="2331720"/>
            <a:ext cx="2651760" cy="18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6000" b="1" dirty="0">
                <a:solidFill>
                  <a:srgbClr val="FD1485"/>
                </a:solidFill>
                <a:latin typeface="Fjalla One"/>
              </a:rPr>
              <a:t>85%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353334"/>
                </a:solidFill>
                <a:latin typeface="Mulish"/>
              </a:rPr>
              <a:t>Reduction in Parent-Student Conflict (PSCI)</a:t>
            </a:r>
          </a:p>
          <a:p>
            <a:pPr algn="ctr">
              <a:spcBef>
                <a:spcPts val="200"/>
              </a:spcBef>
            </a:pPr>
            <a:r>
              <a:rPr lang="en-US" sz="900" dirty="0">
                <a:solidFill>
                  <a:srgbClr val="6E6E73"/>
                </a:solidFill>
                <a:latin typeface="Mulish"/>
              </a:rPr>
              <a:t>measured on 50 synthetic profiles</a:t>
            </a:r>
          </a:p>
        </p:txBody>
      </p:sp>
      <p:sp>
        <p:nvSpPr>
          <p:cNvPr id="34" name="Card 34"/>
          <p:cNvSpPr/>
          <p:nvPr/>
        </p:nvSpPr>
        <p:spPr>
          <a:xfrm>
            <a:off x="4937760" y="2057400"/>
            <a:ext cx="6126480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5" name="Pill 35"/>
          <p:cNvSpPr/>
          <p:nvPr/>
        </p:nvSpPr>
        <p:spPr>
          <a:xfrm>
            <a:off x="525780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HOW IT WAS MEASURED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120640" y="2286000"/>
            <a:ext cx="5760720" cy="1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Test: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synthetic suite of 50 multi-stakeholder profiles across income brackets and risk tolerances (real-family pilot is next).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Formula: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ΔPSCI = (PSCI before − PSCI after mediation) ÷ PSCI before × 100, averaged over 50 profiles.</a:t>
            </a:r>
          </a:p>
          <a:p>
            <a:pPr>
              <a:spcBef>
                <a:spcPts val="300"/>
              </a:spcBef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Context: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80%+ of students face decision confusion; 50%+ regret choices by 25 (UNESCO; Dahiya, SSRN).</a:t>
            </a:r>
          </a:p>
        </p:txBody>
      </p:sp>
      <p:sp>
        <p:nvSpPr>
          <p:cNvPr id="37" name="Card 37"/>
          <p:cNvSpPr/>
          <p:nvPr/>
        </p:nvSpPr>
        <p:spPr>
          <a:xfrm>
            <a:off x="1645920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8" name="Pill 38"/>
          <p:cNvSpPr/>
          <p:nvPr/>
        </p:nvSpPr>
        <p:spPr>
          <a:xfrm>
            <a:off x="1965960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IMPACT 01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828800" y="5093208"/>
            <a:ext cx="26060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WHAT IMPROVES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Blind choice → defensible path via a 10-D match.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No financial surprises: EMI, payback, bridge scholarships.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Skill gaps surfaced early by a personal SWOT.</a:t>
            </a:r>
          </a:p>
        </p:txBody>
      </p:sp>
      <p:sp>
        <p:nvSpPr>
          <p:cNvPr id="40" name="Card 40"/>
          <p:cNvSpPr/>
          <p:nvPr/>
        </p:nvSpPr>
        <p:spPr>
          <a:xfrm>
            <a:off x="4864608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1" name="Pill 41"/>
          <p:cNvSpPr/>
          <p:nvPr/>
        </p:nvSpPr>
        <p:spPr>
          <a:xfrm>
            <a:off x="5184648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IMPACT 02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047488" y="5093208"/>
            <a:ext cx="26060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WHO ELSE BENEFITS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Parents: financial clarity and a seat at the table.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Regional STEAM clusters and MSMEs keep local talent.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Colleges and banks: better completion, fewer defaults (expected).</a:t>
            </a:r>
          </a:p>
        </p:txBody>
      </p:sp>
      <p:sp>
        <p:nvSpPr>
          <p:cNvPr id="43" name="Card 43"/>
          <p:cNvSpPr/>
          <p:nvPr/>
        </p:nvSpPr>
        <p:spPr>
          <a:xfrm>
            <a:off x="8083296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4" name="Pill 44"/>
          <p:cNvSpPr/>
          <p:nvPr/>
        </p:nvSpPr>
        <p:spPr>
          <a:xfrm>
            <a:off x="8403336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IMPACT 03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8266176" y="5093208"/>
            <a:ext cx="260604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RISKS / MISUSE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Pigeonholing: fixed with probabilistic pathways.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Stale fees or dates: version-controlled datasets.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Decision support alongside human counsellors.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Kicker 40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1" name="Title 41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D1485"/>
                </a:solidFill>
                <a:latin typeface="Fjalla One"/>
              </a:rPr>
              <a:t>13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Why This Project?</a:t>
            </a:r>
          </a:p>
        </p:txBody>
      </p:sp>
      <p:sp>
        <p:nvSpPr>
          <p:cNvPr id="42" name="Rule 42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3" name="Subtitle 43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Direct contrast with today’s alternatives · Unfair technical advantage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STATUS QUO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20240" y="2286000"/>
            <a:ext cx="4023360" cy="26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CURRENT APPROACH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Isolated silos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 research tools match skills or traits but ignore household finances, parental risk tolerance and loan burden.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Black boxes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 generic LLM wrappers hallucinate fees and careers; static quizzes fail under real market constraints.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No mediation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 families are left with debt and conflict; automation bias and weak explainability are flagged in the literature.</a:t>
            </a:r>
          </a:p>
        </p:txBody>
      </p:sp>
      <p:sp>
        <p:nvSpPr>
          <p:cNvPr id="34" name="Card 34"/>
          <p:cNvSpPr/>
          <p:nvPr/>
        </p:nvSpPr>
        <p:spPr>
          <a:xfrm>
            <a:off x="6492240" y="205740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5" name="Pill 35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OUR SOLUTION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766560" y="2286000"/>
            <a:ext cx="4023360" cy="26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OUR APPROACH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Dual-stakeholder vectors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 10-D student trait vector (RIASEC + aptitude) with a 4-D parent vector (budget, debt cap, risk, mobility).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Solvers before LLM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 cosine similarity, Euclidean distance and amortization give feasibility, payback and PSCI.</a:t>
            </a:r>
          </a:p>
          <a:p>
            <a:pPr marL="128016" indent="-128016">
              <a:spcBef>
                <a:spcPts val="250"/>
              </a:spcBef>
              <a:buFont typeface="Arial"/>
              <a:buChar char="•"/>
            </a:pPr>
            <a:r>
              <a:rPr lang="en-US" sz="950" b="1" dirty="0">
                <a:solidFill>
                  <a:srgbClr val="353334"/>
                </a:solidFill>
                <a:latin typeface="Mulish"/>
              </a:rPr>
              <a:t>Explainable synthesis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  Gemini explains the JSON output; math-only fallback.</a:t>
            </a:r>
          </a:p>
        </p:txBody>
      </p:sp>
      <p:sp>
        <p:nvSpPr>
          <p:cNvPr id="37" name="Card 37"/>
          <p:cNvSpPr/>
          <p:nvPr/>
        </p:nvSpPr>
        <p:spPr>
          <a:xfrm>
            <a:off x="1645920" y="5303520"/>
            <a:ext cx="9418320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8" name="Pill 38"/>
          <p:cNvSpPr/>
          <p:nvPr/>
        </p:nvSpPr>
        <p:spPr>
          <a:xfrm>
            <a:off x="1965960" y="5175504"/>
            <a:ext cx="22000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MOAT / DIFFERENTIATION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920240" y="5486400"/>
            <a:ext cx="8869680" cy="10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KEY DIFFERENCE</a:t>
            </a:r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Research solves isolated psychological matching or skill mapping. PRISM treats career guidance as a multi-stakeholder constraint-satisfaction problem: it quantifies the Parent-Student Conflict Index (PSCI), closes tuition deficits through automated financial-aid matching, and generates compromise pathways that balance student ambition with family financial solvency.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Kicker 44"/>
          <p:cNvSpPr txBox="1"/>
          <p:nvPr/>
        </p:nvSpPr>
        <p:spPr>
          <a:xfrm>
            <a:off x="1645920" y="38404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050" b="1" dirty="0">
                <a:solidFill>
                  <a:srgbClr val="353334"/>
                </a:solidFill>
                <a:latin typeface="Mulish"/>
              </a:rPr>
              <a:t>DATAQUEST 3.0  ·  FINAL PRESENTATION</a:t>
            </a:r>
          </a:p>
        </p:txBody>
      </p:sp>
      <p:sp>
        <p:nvSpPr>
          <p:cNvPr id="45" name="Title 45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>
                <a:solidFill>
                  <a:srgbClr val="FD1485"/>
                </a:solidFill>
                <a:latin typeface="Fjalla One"/>
              </a:rPr>
              <a:t>14  </a:t>
            </a:r>
            <a:r>
              <a:rPr lang="en-US" sz="3200" b="1" dirty="0">
                <a:solidFill>
                  <a:srgbClr val="353334"/>
                </a:solidFill>
                <a:latin typeface="Fjalla One"/>
              </a:rPr>
              <a:t>Roadmap &amp; Thank You</a:t>
            </a:r>
          </a:p>
        </p:txBody>
      </p:sp>
      <p:sp>
        <p:nvSpPr>
          <p:cNvPr id="46" name="Rule 46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7" name="Subtitle 47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6E6E73"/>
                </a:solidFill>
                <a:latin typeface="Mulish"/>
              </a:rPr>
              <a:t>What is built · What is next · Where this goes</a:t>
            </a:r>
          </a:p>
        </p:txBody>
      </p:sp>
      <p:sp>
        <p:nvSpPr>
          <p:cNvPr id="31" name="Card 31"/>
          <p:cNvSpPr/>
          <p:nvPr/>
        </p:nvSpPr>
        <p:spPr>
          <a:xfrm>
            <a:off x="1645920" y="2057400"/>
            <a:ext cx="297180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2" name="Pill 32"/>
          <p:cNvSpPr/>
          <p:nvPr/>
        </p:nvSpPr>
        <p:spPr>
          <a:xfrm>
            <a:off x="1965960" y="1929384"/>
            <a:ext cx="1900000" cy="256032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BUILT · MVP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828800" y="2286000"/>
            <a:ext cx="2606040" cy="2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WORKING TODAY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Gamified RIASEC + aptitude assessment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Deterministic engine: fit, EMI, PSCI, MAUT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Gemini counselor in 4 languages, PDF report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Live institution map near the student</a:t>
            </a:r>
          </a:p>
        </p:txBody>
      </p:sp>
      <p:sp>
        <p:nvSpPr>
          <p:cNvPr id="34" name="Card 34"/>
          <p:cNvSpPr/>
          <p:nvPr/>
        </p:nvSpPr>
        <p:spPr>
          <a:xfrm>
            <a:off x="4864608" y="2057400"/>
            <a:ext cx="297180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5" name="Pill 35"/>
          <p:cNvSpPr/>
          <p:nvPr/>
        </p:nvSpPr>
        <p:spPr>
          <a:xfrm>
            <a:off x="5184648" y="1929384"/>
            <a:ext cx="19000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353334"/>
                </a:solidFill>
                <a:latin typeface="Mulish"/>
              </a:rPr>
              <a:t>NEXT · 0–3 MONTHS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047488" y="2286000"/>
            <a:ext cx="2606040" cy="2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PROVE IT WITH FAMILIES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Real-family pilot with schools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Bank / Vidya Lakshmi pre-qualification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Counsellor dashboard for schools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Places API: incubators, govt. colleges</a:t>
            </a:r>
          </a:p>
        </p:txBody>
      </p:sp>
      <p:sp>
        <p:nvSpPr>
          <p:cNvPr id="37" name="Card 37"/>
          <p:cNvSpPr/>
          <p:nvPr/>
        </p:nvSpPr>
        <p:spPr>
          <a:xfrm>
            <a:off x="8083296" y="2057400"/>
            <a:ext cx="297180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38" name="Pill 38"/>
          <p:cNvSpPr/>
          <p:nvPr/>
        </p:nvSpPr>
        <p:spPr>
          <a:xfrm>
            <a:off x="8403336" y="1929384"/>
            <a:ext cx="19000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LATER · SCALE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266176" y="2286000"/>
            <a:ext cx="2606040" cy="2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REACH EVERY HOUSEHOLD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Voice counselling for parents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Live demand from job-posting data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Native mobile apps</a:t>
            </a:r>
          </a:p>
          <a:p>
            <a:pPr marL="128016" indent="-128016">
              <a:spcBef>
                <a:spcPts val="350"/>
              </a:spcBef>
              <a:buFont typeface="Arial"/>
              <a:buChar char="•"/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Beyond 30 careers, beyond STEAM</a:t>
            </a:r>
          </a:p>
        </p:txBody>
      </p:sp>
      <p:sp>
        <p:nvSpPr>
          <p:cNvPr id="40" name="Card 40"/>
          <p:cNvSpPr/>
          <p:nvPr/>
        </p:nvSpPr>
        <p:spPr>
          <a:xfrm>
            <a:off x="1645920" y="5120640"/>
            <a:ext cx="941832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/>
          <a:lstStyle/>
          <a:p>
            <a:endParaRPr lang="en-US"/>
          </a:p>
        </p:txBody>
      </p:sp>
      <p:sp>
        <p:nvSpPr>
          <p:cNvPr id="41" name="Pill 41"/>
          <p:cNvSpPr/>
          <p:nvPr/>
        </p:nvSpPr>
        <p:spPr>
          <a:xfrm>
            <a:off x="1965960" y="49926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</a:pPr>
            <a:r>
              <a:rPr lang="en-US" sz="850" b="1" dirty="0">
                <a:solidFill>
                  <a:srgbClr val="FFFFFF"/>
                </a:solidFill>
                <a:latin typeface="Mulish"/>
              </a:rPr>
              <a:t>TEAM FOUR SPADES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920240" y="5349240"/>
            <a:ext cx="4300000" cy="11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2200" b="1" dirty="0">
                <a:solidFill>
                  <a:srgbClr val="FD1485"/>
                </a:solidFill>
                <a:latin typeface="Fjalla One"/>
              </a:rPr>
              <a:t>THANK YOU  ·  QUESTIONS?</a:t>
            </a:r>
          </a:p>
          <a:p>
            <a:pPr>
              <a:spcBef>
                <a:spcPts val="300"/>
              </a:spcBef>
            </a:pPr>
            <a:r>
              <a:rPr lang="en-US" sz="1050" dirty="0">
                <a:solidFill>
                  <a:srgbClr val="3C3C41"/>
                </a:solidFill>
                <a:latin typeface="Mulish"/>
              </a:rPr>
              <a:t>PRISM: career choices a family can afford and agree on.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492240" y="5303520"/>
            <a:ext cx="4400000" cy="11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PARTICIPANTS</a:t>
            </a:r>
          </a:p>
          <a:p>
            <a:pPr>
              <a:spcBef>
                <a:spcPts val="25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Palanivel Rajan S — 24BEC1005   ·   Sanjeev D — 24BEC1053</a:t>
            </a:r>
          </a:p>
          <a:p>
            <a:pPr>
              <a:spcBef>
                <a:spcPts val="100"/>
              </a:spcBef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PG Navin Kumar — 24BEC1055   ·   M Yashwant — 24BEC1096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2588</Words>
  <Application>Microsoft Office PowerPoint</Application>
  <PresentationFormat>Widescreen</PresentationFormat>
  <Paragraphs>318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Fjalla One</vt:lpstr>
      <vt:lpstr>Mulish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Sanjeev D</cp:lastModifiedBy>
  <cp:revision>8</cp:revision>
  <dcterms:created xsi:type="dcterms:W3CDTF">2013-01-27T09:14:16Z</dcterms:created>
  <dcterms:modified xsi:type="dcterms:W3CDTF">2026-10-08T04:42:50Z</dcterms:modified>
  <cp:category/>
</cp:coreProperties>
</file>