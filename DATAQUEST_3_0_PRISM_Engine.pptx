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00_0.xml" ContentType="application/vnd.ms-powerpoint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51ECC6-2D4B-BA92-B282-4E3DA8165BC6}" name="RISHIT BISOYI" initials="RB" userId="S::rishit.bisoyi2025@vitstudent.ac.in::cd4f7ff7-75e1-49f2-a276-375c6c1478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2C0BEE-8EA0-ABCF-A62F-2B9F40FC6642}" v="1" dt="2026-10-06T20:26:11.604"/>
    <p1510:client id="{8792CA87-CA5F-61F4-2F34-29E534A3DBAA}" v="7" dt="2026-10-07T05:50:44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88531-0810-49A5-A43A-AC37517BACE6}" authorId="{4F51ECC6-2D4B-BA92-B282-4E3DA8165BC6}" created="2026-10-06T20:26:11.604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US"/>
          <a:t>Go to File-&gt;Create a copy-&gt;Download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8/10/relationships/comments" Target="../comments/modernComment_100_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2194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2596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2999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9601200" y="640080"/>
            <a:ext cx="109728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6005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65733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rc 19"/>
          <p:cNvSpPr/>
          <p:nvPr/>
        </p:nvSpPr>
        <p:spPr>
          <a:xfrm>
            <a:off x="1463040" y="5303520"/>
            <a:ext cx="1005840" cy="73152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21892" y="56281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7732" y="526237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1645920" y="758952"/>
            <a:ext cx="219456" cy="256032"/>
          </a:xfrm>
          <a:prstGeom prst="triangle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73352" y="685800"/>
            <a:ext cx="164592" cy="91440"/>
          </a:xfrm>
          <a:prstGeom prst="roundRect">
            <a:avLst>
              <a:gd name="adj" fmla="val 20000"/>
            </a:avLst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32788" y="822960"/>
            <a:ext cx="45720" cy="45720"/>
          </a:xfrm>
          <a:prstGeom prst="ellipse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751076" y="868680"/>
            <a:ext cx="19050" cy="13716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45920" y="1078992"/>
            <a:ext cx="9144000" cy="1554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5600" b="1">
                <a:solidFill>
                  <a:srgbClr val="353334"/>
                </a:solidFill>
                <a:latin typeface="Fjalla One"/>
              </a:defRPr>
            </a:pPr>
            <a:r>
              <a:t>DATAQUEST 3.0</a:t>
            </a:r>
          </a:p>
          <a:p>
            <a:pPr>
              <a:spcBef>
                <a:spcPts val="200"/>
              </a:spcBef>
              <a:defRPr sz="3200" b="1">
                <a:solidFill>
                  <a:srgbClr val="FD1485"/>
                </a:solidFill>
                <a:latin typeface="Fjalla One"/>
              </a:defRPr>
            </a:pPr>
            <a:r>
              <a:t>ROUND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2578608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2670048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200" b="1">
                <a:solidFill>
                  <a:srgbClr val="353334"/>
                </a:solidFill>
                <a:latin typeface="Mulish"/>
              </a:rPr>
              <a:t>PRISM ENGINE  ·  PROBLEM STATEMENT DQNM  ·  NANO MECH LABS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PROJECT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52044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353334"/>
                </a:solidFill>
                <a:latin typeface="Fjalla One"/>
              </a:rPr>
              <a:t>PROJECT TITLE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FD1485"/>
                </a:solidFill>
                <a:latin typeface="Fjalla One"/>
              </a:rPr>
              <a:t>PRISM Engine: Multi-Dimensional STEAM Career Guidance &amp; Hyper-Local Innovation Platform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353334"/>
                </a:solidFill>
                <a:latin typeface="Fjalla One"/>
              </a:rPr>
              <a:t>ONE-LINE PITCH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An AI engine that turns student psychometrics and parent finances into affordable, conflict-aware STEAM career pathways, computed with transparent math and explained by Gemini.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353334"/>
                </a:solidFill>
                <a:latin typeface="Fjalla One"/>
              </a:rPr>
              <a:t>TRACK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79ED2"/>
                </a:solidFill>
                <a:latin typeface="Mulish"/>
              </a:rPr>
              <a:t>DQNM · STEAM Career Guidance &amp; Hyper-Local Innovation (Nano Mech Labs)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TEAM &amp;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52044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353334"/>
                </a:solidFill>
                <a:latin typeface="Fjalla One"/>
              </a:rPr>
              <a:t>TEAM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353334"/>
                </a:solidFill>
                <a:latin typeface="Fjalla One"/>
              </a:rPr>
              <a:t>Four Spades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353334"/>
                </a:solidFill>
                <a:latin typeface="Fjalla One"/>
              </a:rPr>
              <a:t>PARTICIPANTS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•  Palanivel Rajan S — 24BEC1005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•  Sanjeev D — 24BEC1053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•  PG Navin Kumar — 24BEC1055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•  M Yashwant — 24BEC1096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02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Problem Definition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Who is impacted · Today's workarounds · Why current methods fail · Concrete proof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01 · AUDIENCE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31343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53334"/>
                </a:solidFill>
                <a:latin typeface="Fjalla One"/>
              </a:rPr>
              <a:t>WHO &amp; HOW OFTEN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Who: </a:t>
            </a:r>
            <a:r>
              <a:rPr sz="1000">
                <a:solidFill>
                  <a:srgbClr val="3C3C41"/>
                </a:solidFill>
                <a:latin typeface="Mulish"/>
              </a:rPr>
              <a:t>students (Grade 9–12, UG) and their parents across India; ~90% choose careers without structured guidance.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How often: </a:t>
            </a:r>
            <a:r>
              <a:rPr sz="1000">
                <a:solidFill>
                  <a:srgbClr val="3C3C41"/>
                </a:solidFill>
                <a:latin typeface="Mulish"/>
              </a:rPr>
              <a:t>every stream, course and college decision, for every child in every admission cycle.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Scale: </a:t>
            </a:r>
            <a:r>
              <a:rPr sz="1000">
                <a:solidFill>
                  <a:srgbClr val="3C3C41"/>
                </a:solidFill>
                <a:latin typeface="Mulish"/>
              </a:rPr>
              <a:t>one counsellor per ~15,000 students; parents, the real financiers, are left out.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02 · STATUS QUO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1343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53334"/>
                </a:solidFill>
                <a:latin typeface="Fjalla One"/>
              </a:rPr>
              <a:t>CURRENT APPROACH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>
                <a:solidFill>
                  <a:srgbClr val="3C3C41"/>
                </a:solidFill>
                <a:latin typeface="Mulish"/>
              </a:rPr>
              <a:t>Hearsay, peer choices and narrow exam cut-offs drive decisions.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>
                <a:solidFill>
                  <a:srgbClr val="3C3C41"/>
                </a:solidFill>
                <a:latin typeface="Mulish"/>
              </a:rPr>
              <a:t>93% of youth know only 7–10 careers (medicine, engineering, law, civil services, IT) out of 250+ paths.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>
                <a:solidFill>
                  <a:srgbClr val="3C3C41"/>
                </a:solidFill>
                <a:latin typeface="Mulish"/>
              </a:rPr>
              <a:t>Static personality quizzes or generic chatbots; human counsellors are scarce and costly.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>
                <a:solidFill>
                  <a:srgbClr val="3C3C41"/>
                </a:solidFill>
                <a:latin typeface="Mulish"/>
              </a:rPr>
              <a:t>Parents decide on gut feel about cost and “safe” careers; scholarships are found late.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03 · DEFICIENCY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64515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53334"/>
                </a:solidFill>
                <a:latin typeface="Fjalla One"/>
              </a:rPr>
              <a:t>WHY IT FALLS SHORT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Isolated: </a:t>
            </a:r>
            <a:r>
              <a:rPr sz="1000">
                <a:solidFill>
                  <a:srgbClr val="3C3C41"/>
                </a:solidFill>
                <a:latin typeface="Mulish"/>
              </a:rPr>
              <a:t>ignores family budget, loan capacity and risk appetite, causing debt and conflict.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No yield view: </a:t>
            </a:r>
            <a:r>
              <a:rPr sz="1000">
                <a:solidFill>
                  <a:srgbClr val="3C3C41"/>
                </a:solidFill>
                <a:latin typeface="Mulish"/>
              </a:rPr>
              <a:t>no ROI, salary trajectory or regional demand; emerging STEAM fields stay invisible.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Doesn’t scale: </a:t>
            </a:r>
            <a:r>
              <a:rPr sz="1000">
                <a:solidFill>
                  <a:srgbClr val="3C3C41"/>
                </a:solidFill>
                <a:latin typeface="Mulish"/>
              </a:rPr>
              <a:t>1:15,000 counsellor ratio; LLM chatbots hallucinate fees and careers.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Result: </a:t>
            </a:r>
            <a:r>
              <a:rPr sz="1000">
                <a:solidFill>
                  <a:srgbClr val="3C3C41"/>
                </a:solidFill>
                <a:latin typeface="Mulish"/>
              </a:rPr>
              <a:t>mismatched streams, dropouts, graduate underemployment.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04 ·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4515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53334"/>
                </a:solidFill>
                <a:latin typeface="Fjalla One"/>
              </a:rPr>
              <a:t>EVIDENCE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90% </a:t>
            </a:r>
            <a:r>
              <a:rPr sz="1000">
                <a:solidFill>
                  <a:srgbClr val="3C3C41"/>
                </a:solidFill>
                <a:latin typeface="Mulish"/>
              </a:rPr>
              <a:t>choose blindly; engineering job-readiness only 20–25% (India Today, Sep 2025).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10% </a:t>
            </a:r>
            <a:r>
              <a:rPr sz="1000">
                <a:solidFill>
                  <a:srgbClr val="3C3C41"/>
                </a:solidFill>
                <a:latin typeface="Mulish"/>
              </a:rPr>
              <a:t>know real course costs; 81% report decision barriers (ETV Bharat, Sep 2025).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65% </a:t>
            </a:r>
            <a:r>
              <a:rPr sz="1000">
                <a:solidFill>
                  <a:srgbClr val="3C3C41"/>
                </a:solidFill>
                <a:latin typeface="Mulish"/>
              </a:rPr>
              <a:t>mismatched streams; 73% extreme stress at stream selection (UNESCO, 2025).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50%+ </a:t>
            </a:r>
            <a:r>
              <a:rPr sz="1000">
                <a:solidFill>
                  <a:srgbClr val="3C3C41"/>
                </a:solidFill>
                <a:latin typeface="Mulish"/>
              </a:rPr>
              <a:t>regret choices by 25; 85–86% of graduates feel unprepared (Dahiya, SSRN, 2025).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03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Proposed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System identity · End-to-end user workflow · Competitive advantages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SOLUTION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19456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353334"/>
                </a:solidFill>
                <a:latin typeface="Fjalla One"/>
              </a:rPr>
              <a:t>PRISM ENGINE: Multi-Stakeholder Career Intelligence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C3C41"/>
                </a:solidFill>
                <a:latin typeface="Mulish"/>
              </a:rPr>
              <a:t>PRISM vectorizes a student’s psychometric profile and a parent’s financial constraints, solves feasibility with deterministic math, and returns ranked, affordable STEAM pathways with a Parent-Student Conflict Index (PSCI) and an explainable roadmap. Gemini only explains verified numbers.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3383280"/>
            <a:ext cx="94183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65960" y="32552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USER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822192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>
                <a:solidFill>
                  <a:srgbClr val="353334"/>
                </a:solidFill>
                <a:latin typeface="Fjalla One"/>
              </a:rPr>
              <a:t>1. USER INPUT</a:t>
            </a:r>
          </a:p>
          <a:p>
            <a:pPr algn="ctr"/>
            <a:r>
              <a:rPr sz="850">
                <a:solidFill>
                  <a:srgbClr val="3C3C41"/>
                </a:solidFill>
                <a:latin typeface="Mulish"/>
              </a:rPr>
              <a:t>Student: RIASEC, aptitude, marks. Parent: budget, loan cap, risk, radius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3931920"/>
            <a:ext cx="3291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353334"/>
                </a:solidFill>
                <a:latin typeface="Mulish"/>
              </a:defRPr>
            </a:pPr>
            <a:r>
              <a:t>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3822192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>
                <a:solidFill>
                  <a:srgbClr val="353334"/>
                </a:solidFill>
                <a:latin typeface="Fjalla One"/>
              </a:rPr>
              <a:t>2. PROCESSING</a:t>
            </a:r>
          </a:p>
          <a:p>
            <a:pPr algn="ctr"/>
            <a:r>
              <a:rPr sz="850">
                <a:solidFill>
                  <a:srgbClr val="3C3C41"/>
                </a:solidFill>
                <a:latin typeface="Mulish"/>
              </a:rPr>
              <a:t>Vectorize → Fit + PSCI + Financial solver → MAUT ranker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3931920"/>
            <a:ext cx="3291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353334"/>
                </a:solidFill>
                <a:latin typeface="Mulish"/>
              </a:defRPr>
            </a:pPr>
            <a:r>
              <a:t>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822192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>
                <a:solidFill>
                  <a:srgbClr val="353334"/>
                </a:solidFill>
                <a:latin typeface="Fjalla One"/>
              </a:rPr>
              <a:t>3. OUTPUT</a:t>
            </a:r>
          </a:p>
          <a:p>
            <a:pPr algn="ctr"/>
            <a:r>
              <a:rPr sz="850">
                <a:solidFill>
                  <a:srgbClr val="3C3C41"/>
                </a:solidFill>
                <a:latin typeface="Mulish"/>
              </a:rPr>
              <a:t>Top-3 pathways, PSCI gauge, EMI/payback, scholarships, SWOT roadmap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45920" y="4846320"/>
            <a:ext cx="457200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965960" y="47183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ADVANTAGE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074920"/>
            <a:ext cx="4023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53334"/>
                </a:solidFill>
                <a:latin typeface="Fjalla One"/>
              </a:rPr>
              <a:t>WHY IT IS BETTER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>
                <a:solidFill>
                  <a:srgbClr val="3C3C41"/>
                </a:solidFill>
                <a:latin typeface="Mulish"/>
              </a:rPr>
              <a:t>Replaces blind choice with a 10-D student match plus a 4-D family constraint vector.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>
                <a:solidFill>
                  <a:srgbClr val="3C3C41"/>
                </a:solidFill>
                <a:latin typeface="Mulish"/>
              </a:rPr>
              <a:t>Fit, EMI and payback are computed, not generated: no hallucinated fees.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>
                <a:solidFill>
                  <a:srgbClr val="3C3C41"/>
                </a:solidFill>
                <a:latin typeface="Mulish"/>
              </a:rPr>
              <a:t>Pipeline under 45 ms (1.2 s with Gemini); near-zero run cost.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846320"/>
            <a:ext cx="457200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812280" y="47183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INNOVATION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074920"/>
            <a:ext cx="4023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53334"/>
                </a:solidFill>
                <a:latin typeface="Fjalla One"/>
              </a:rPr>
              <a:t>WHAT IS DIFFERENT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PSCI: </a:t>
            </a:r>
            <a:r>
              <a:rPr sz="1000">
                <a:solidFill>
                  <a:srgbClr val="3C3C41"/>
                </a:solidFill>
                <a:latin typeface="Mulish"/>
              </a:rPr>
              <a:t>a quantified parent-student conflict score.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Solve before rank: </a:t>
            </a:r>
            <a:r>
              <a:rPr sz="1000">
                <a:solidFill>
                  <a:srgbClr val="3C3C41"/>
                </a:solidFill>
                <a:latin typeface="Mulish"/>
              </a:rPr>
              <a:t>scholarships bridge tuition gaps first.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Compromise pathways: </a:t>
            </a:r>
            <a:r>
              <a:rPr sz="1000">
                <a:solidFill>
                  <a:srgbClr val="3C3C41"/>
                </a:solidFill>
                <a:latin typeface="Mulish"/>
              </a:rPr>
              <a:t>MAUT blends fit, conflict, payback, ROI, demand.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LLM explains only; </a:t>
            </a:r>
            <a:r>
              <a:rPr sz="1000">
                <a:solidFill>
                  <a:srgbClr val="3C3C41"/>
                </a:solidFill>
                <a:latin typeface="Mulish"/>
              </a:rPr>
              <a:t>math fallback if the API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04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System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System diagram is the primary visual · Engineering decisions ·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SYSTEM DIAGRAM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2331720"/>
            <a:ext cx="8869680" cy="2148840"/>
          </a:xfrm>
          <a:prstGeom prst="roundRect">
            <a:avLst>
              <a:gd name="adj" fmla="val 3500"/>
            </a:avLst>
          </a:prstGeom>
          <a:solidFill>
            <a:srgbClr val="FFFFF1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645920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965960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TECH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093208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353334"/>
                </a:solidFill>
                <a:latin typeface="Fjalla One"/>
              </a:rPr>
              <a:t>KEY TECHNICAL DECISION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C3C41"/>
                </a:solidFill>
                <a:latin typeface="Mulish"/>
              </a:rPr>
              <a:t>Math first, LLM second. FastAPI + NumPy compute cosine fit, PSCI and amortization deterministically, so no hallucinated careers or fees. Gemini 2.5 Flash only explains verified JSON.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64608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84648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TECH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5093208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353334"/>
                </a:solidFill>
                <a:latin typeface="Fjalla One"/>
              </a:rPr>
              <a:t>HARDEST PART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C3C41"/>
                </a:solidFill>
                <a:latin typeface="Mulish"/>
              </a:rPr>
              <a:t>Aligning student and parent vectors without discarding ambitious careers. We built PSCI (weighted Euclidean distance) and a deficit solver that bridges tuition gaps with scholarships before ranking.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03336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TECH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5093208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353334"/>
                </a:solidFill>
                <a:latin typeface="Fjalla One"/>
              </a:rPr>
              <a:t>VALIDATION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C3C41"/>
                </a:solidFill>
                <a:latin typeface="Mulish"/>
              </a:rPr>
              <a:t>Edge-case unit tests (zero capital vs private fees; 100% risk aversion vs startups). Numeric pipeline under 45 ms; under 1.2 s with Gemini. A mock API failure falls back to math cards.</a:t>
            </a:r>
          </a:p>
        </p:txBody>
      </p:sp>
      <p:sp>
        <p:nvSpPr>
          <p:cNvPr id="37" name="Layer 1 · PRESENTATION"/>
          <p:cNvSpPr/>
          <p:nvPr/>
        </p:nvSpPr>
        <p:spPr>
          <a:xfrm>
            <a:off x="2011680" y="2432304"/>
            <a:ext cx="1965960" cy="1572768"/>
          </a:xfrm>
          <a:prstGeom prst="roundRect">
            <a:avLst>
              <a:gd name="adj" fmla="val 6000"/>
            </a:avLst>
          </a:prstGeom>
          <a:solidFill>
            <a:srgbClr val="E6F4FA"/>
          </a:solidFill>
          <a:ln w="19050">
            <a:solidFill>
              <a:srgbClr val="079ED2"/>
            </a:solidFill>
          </a:ln>
        </p:spPr>
        <p:txBody>
          <a:bodyPr rtlCol="0" anchor="t" wrap="square" lIns="73152" rIns="73152" tIns="54864" bIns="36576"/>
          <a:lstStyle/>
          <a:p>
            <a:pPr/>
            <a:r>
              <a:rPr lang="en-US" sz="1000" b="1">
                <a:solidFill>
                  <a:srgbClr val="079ED2"/>
                </a:solidFill>
                <a:latin typeface="Fjalla One"/>
              </a:rPr>
              <a:t>1 · PRESENTATION</a:t>
            </a:r>
          </a:p>
          <a:p>
            <a:pPr>
              <a:spcBef>
                <a:spcPts val="200"/>
              </a:spcBef>
            </a:pPr>
            <a:r>
              <a:rPr lang="en-US" sz="950" b="1">
                <a:solidFill>
                  <a:srgbClr val="3C3C41"/>
                </a:solidFill>
                <a:latin typeface="Mulish"/>
              </a:rPr>
              <a:t>React + Vite, Tailwind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Student portal: psychometrics, marks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Parent portal: budget, loan cap, risk, radius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PSCI gauges, cards, AI chat</a:t>
            </a:r>
          </a:p>
        </p:txBody>
      </p:sp>
      <p:sp>
        <p:nvSpPr>
          <p:cNvPr id="38" name="Layer 2 · API GATEWAY"/>
          <p:cNvSpPr/>
          <p:nvPr/>
        </p:nvSpPr>
        <p:spPr>
          <a:xfrm>
            <a:off x="4233672" y="2432304"/>
            <a:ext cx="1965960" cy="1572768"/>
          </a:xfrm>
          <a:prstGeom prst="roundRect">
            <a:avLst>
              <a:gd name="adj" fmla="val 6000"/>
            </a:avLst>
          </a:prstGeom>
          <a:solidFill>
            <a:srgbClr val="FFF5D6"/>
          </a:solidFill>
          <a:ln w="19050">
            <a:solidFill>
              <a:srgbClr val="D99A00"/>
            </a:solidFill>
          </a:ln>
        </p:spPr>
        <p:txBody>
          <a:bodyPr rtlCol="0" anchor="t" wrap="square" lIns="73152" rIns="73152" tIns="54864" bIns="36576"/>
          <a:lstStyle/>
          <a:p>
            <a:pPr/>
            <a:r>
              <a:rPr lang="en-US" sz="1000" b="1">
                <a:solidFill>
                  <a:srgbClr val="8A6100"/>
                </a:solidFill>
                <a:latin typeface="Fjalla One"/>
              </a:rPr>
              <a:t>2 · API GATEWAY</a:t>
            </a:r>
          </a:p>
          <a:p>
            <a:pPr>
              <a:spcBef>
                <a:spcPts val="200"/>
              </a:spcBef>
            </a:pPr>
            <a:r>
              <a:rPr lang="en-US" sz="950" b="1">
                <a:solidFill>
                  <a:srgbClr val="3C3C41"/>
                </a:solidFill>
                <a:latin typeface="Mulish"/>
              </a:rPr>
              <a:t>FastAPI + Pydantic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Schema validation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Vector encoder maps traits to 0–1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HTTP / REST JSON</a:t>
            </a:r>
          </a:p>
        </p:txBody>
      </p:sp>
      <p:sp>
        <p:nvSpPr>
          <p:cNvPr id="39" name="Layer 3 · MATH ENGINE"/>
          <p:cNvSpPr/>
          <p:nvPr/>
        </p:nvSpPr>
        <p:spPr>
          <a:xfrm>
            <a:off x="6455664" y="2432304"/>
            <a:ext cx="1965960" cy="1572768"/>
          </a:xfrm>
          <a:prstGeom prst="roundRect">
            <a:avLst>
              <a:gd name="adj" fmla="val 6000"/>
            </a:avLst>
          </a:prstGeom>
          <a:solidFill>
            <a:srgbClr val="FFE3F0"/>
          </a:solidFill>
          <a:ln w="19050">
            <a:solidFill>
              <a:srgbClr val="FD1485"/>
            </a:solidFill>
          </a:ln>
        </p:spPr>
        <p:txBody>
          <a:bodyPr rtlCol="0" anchor="t" wrap="square" lIns="73152" rIns="73152" tIns="54864" bIns="36576"/>
          <a:lstStyle/>
          <a:p>
            <a:pPr/>
            <a:r>
              <a:rPr lang="en-US" sz="1000" b="1">
                <a:solidFill>
                  <a:srgbClr val="FD1485"/>
                </a:solidFill>
                <a:latin typeface="Fjalla One"/>
              </a:rPr>
              <a:t>3 · MATH ENGINE</a:t>
            </a:r>
          </a:p>
          <a:p>
            <a:pPr>
              <a:spcBef>
                <a:spcPts val="200"/>
              </a:spcBef>
            </a:pPr>
            <a:r>
              <a:rPr lang="en-US" sz="950" b="1">
                <a:solidFill>
                  <a:srgbClr val="3C3C41"/>
                </a:solidFill>
                <a:latin typeface="Mulish"/>
              </a:rPr>
              <a:t>NumPy / SciPy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Fit: cosine similarity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PSCI: weighted Euclidean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Financial solver: amortization, deficit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MAUT ranker</a:t>
            </a:r>
          </a:p>
        </p:txBody>
      </p:sp>
      <p:sp>
        <p:nvSpPr>
          <p:cNvPr id="40" name="Layer 5 · AI &amp; EXPLAINABILITY"/>
          <p:cNvSpPr/>
          <p:nvPr/>
        </p:nvSpPr>
        <p:spPr>
          <a:xfrm>
            <a:off x="8677655" y="2432304"/>
            <a:ext cx="1965960" cy="1572768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ln w="19050">
            <a:solidFill>
              <a:srgbClr val="7E57C2"/>
            </a:solidFill>
          </a:ln>
        </p:spPr>
        <p:txBody>
          <a:bodyPr rtlCol="0" anchor="t" wrap="square" lIns="73152" rIns="73152" tIns="54864" bIns="36576"/>
          <a:lstStyle/>
          <a:p>
            <a:pPr/>
            <a:r>
              <a:rPr lang="en-US" sz="1000" b="1">
                <a:solidFill>
                  <a:srgbClr val="7E57C2"/>
                </a:solidFill>
                <a:latin typeface="Fjalla One"/>
              </a:rPr>
              <a:t>5 · AI &amp; EXPLAINABILITY</a:t>
            </a:r>
          </a:p>
          <a:p>
            <a:pPr>
              <a:spcBef>
                <a:spcPts val="200"/>
              </a:spcBef>
            </a:pPr>
            <a:r>
              <a:rPr lang="en-US" sz="950" b="1">
                <a:solidFill>
                  <a:srgbClr val="3C3C41"/>
                </a:solidFill>
                <a:latin typeface="Mulish"/>
              </a:rPr>
              <a:t>Gemini 2.5 Flash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SWOT, mediation, exam schedule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>
                <a:solidFill>
                  <a:srgbClr val="3C3C41"/>
                </a:solidFill>
                <a:latin typeface="Mulish"/>
              </a:rPr>
              <a:t>Math-only fallback if API fails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005072" y="3118104"/>
            <a:ext cx="201168" cy="201168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6227064" y="3118104"/>
            <a:ext cx="201168" cy="201168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8449055" y="3118104"/>
            <a:ext cx="201168" cy="201168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Layer 4 Data"/>
          <p:cNvSpPr/>
          <p:nvPr/>
        </p:nvSpPr>
        <p:spPr>
          <a:xfrm>
            <a:off x="2011680" y="4133087"/>
            <a:ext cx="8631935" cy="301752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9050">
            <a:solidFill>
              <a:srgbClr val="353334"/>
            </a:solidFill>
          </a:ln>
        </p:spPr>
        <p:txBody>
          <a:bodyPr rtlCol="0" anchor="ctr" wrap="square" lIns="73152" rIns="73152" tIns="18288" bIns="18288"/>
          <a:lstStyle/>
          <a:p>
            <a:pPr algn="ctr"/>
            <a:r>
              <a:rPr lang="en-US" sz="1000" b="1">
                <a:solidFill>
                  <a:srgbClr val="353334"/>
                </a:solidFill>
                <a:latin typeface="Fjalla One"/>
              </a:rPr>
              <a:t>4 · DATA &amp; KNOWLEDGE (SQLite):  </a:t>
            </a:r>
            <a:r>
              <a:rPr lang="en-US" sz="950">
                <a:solidFill>
                  <a:srgbClr val="3C3C41"/>
                </a:solidFill>
                <a:latin typeface="Mulish"/>
              </a:rPr>
              <a:t>career &amp; skills benchmarks  ·  regional demand &amp; geo-clusters  ·  scholarships (PM-Vidyalaxmi)</a:t>
            </a:r>
          </a:p>
        </p:txBody>
      </p:sp>
      <p:sp>
        <p:nvSpPr>
          <p:cNvPr id="45" name="Up Arrow 44"/>
          <p:cNvSpPr/>
          <p:nvPr/>
        </p:nvSpPr>
        <p:spPr>
          <a:xfrm>
            <a:off x="7347204" y="4023359"/>
            <a:ext cx="182880" cy="118872"/>
          </a:xfrm>
          <a:prstGeom prst="up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05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Feasibility &amp;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Concrete boundaries · Operational run rate · Risk mitigation · Post-hackathon plans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01 ·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31343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53334"/>
                </a:solidFill>
                <a:latin typeface="Fjalla One"/>
              </a:rPr>
              <a:t>1. SCOPE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In: </a:t>
            </a:r>
            <a:r>
              <a:rPr sz="1000">
                <a:solidFill>
                  <a:srgbClr val="3C3C41"/>
                </a:solidFill>
                <a:latin typeface="Mulish"/>
              </a:rPr>
              <a:t>dual-stakeholder portal (student psychometrics + parent finances); real-time vectorization and PSCI; deficit &amp; EMI solver with payback; regional STEAM and scholarship mapping; Gemini counselling chat.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Out (Round 1): </a:t>
            </a:r>
            <a:r>
              <a:rPr sz="1000">
                <a:solidFill>
                  <a:srgbClr val="3C3C41"/>
                </a:solidFill>
                <a:latin typeface="Mulish"/>
              </a:rPr>
              <a:t>live bank/credit APIs; live job-posting scrapers (curated regional demand index instead); native mobile apps.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02 · ECONOMICS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1343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53334"/>
                </a:solidFill>
                <a:latin typeface="Fjalla One"/>
              </a:rPr>
              <a:t>2. RUNNING COST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Hosting: </a:t>
            </a:r>
            <a:r>
              <a:rPr sz="1000">
                <a:solidFill>
                  <a:srgbClr val="3C3C41"/>
                </a:solidFill>
                <a:latin typeface="Mulish"/>
              </a:rPr>
              <a:t>$0/month: FastAPI on Render free tier, React app on Vercel.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Data: </a:t>
            </a:r>
            <a:r>
              <a:rPr sz="1000">
                <a:solidFill>
                  <a:srgbClr val="3C3C41"/>
                </a:solidFill>
                <a:latin typeface="Mulish"/>
              </a:rPr>
              <a:t>$0: SQLite and version-tagged JSON.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AI: </a:t>
            </a:r>
            <a:r>
              <a:rPr sz="1000">
                <a:solidFill>
                  <a:srgbClr val="3C3C41"/>
                </a:solidFill>
                <a:latin typeface="Mulish"/>
              </a:rPr>
              <a:t>Gemini 2.5 Flash free tier for the MVP; a few thousand tokens per assessment, so well under ₹1 per student at scale (estimate).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>
                <a:solidFill>
                  <a:srgbClr val="3C3C41"/>
                </a:solidFill>
                <a:latin typeface="Mulish"/>
              </a:rPr>
              <a:t>Core math runs on CPU; no GPU.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03 · CONTINGENCY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64515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53334"/>
                </a:solidFill>
                <a:latin typeface="Fjalla One"/>
              </a:rPr>
              <a:t>3. RISKS &amp; FALLBACK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LLM outage or quota limit: </a:t>
            </a:r>
            <a:r>
              <a:rPr sz="1000">
                <a:solidFill>
                  <a:srgbClr val="3C3C41"/>
                </a:solidFill>
                <a:latin typeface="Mulish"/>
              </a:rPr>
              <a:t>graceful degradation. Top-3 pathways, EMI and PSCI are computed locally in Python; the UI shows math cards and rule-based insights.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Data drift: </a:t>
            </a:r>
            <a:r>
              <a:rPr sz="1000">
                <a:solidFill>
                  <a:srgbClr val="3C3C41"/>
                </a:solidFill>
                <a:latin typeface="Mulish"/>
              </a:rPr>
              <a:t>demand index and scholarship data are version-tagged JSON, updated offline with no schema migration.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04 · HORIZON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4515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53334"/>
                </a:solidFill>
                <a:latin typeface="Fjalla One"/>
              </a:rPr>
              <a:t>4. AFTER THE HACKATHON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Maps integration: </a:t>
            </a:r>
            <a:r>
              <a:rPr sz="1000">
                <a:solidFill>
                  <a:srgbClr val="3C3C41"/>
                </a:solidFill>
                <a:latin typeface="Mulish"/>
              </a:rPr>
              <a:t>Google Maps Places API to find nearby engineering hubs, incubators and government colleges.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Live financial rails: </a:t>
            </a:r>
            <a:r>
              <a:rPr sz="1000">
                <a:solidFill>
                  <a:srgbClr val="3C3C41"/>
                </a:solidFill>
                <a:latin typeface="Mulish"/>
              </a:rPr>
              <a:t>Vidya Lakshmi portal and bank APIs for loan pre-qualification.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Voice in Indian languages: </a:t>
            </a:r>
            <a:r>
              <a:rPr sz="1000">
                <a:solidFill>
                  <a:srgbClr val="3C3C41"/>
                </a:solidFill>
                <a:latin typeface="Mulish"/>
              </a:rPr>
              <a:t>Hindi, Tamil, Telugu counselling for non-English-literate parents.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06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Impact &amp;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Primary measurable impact · Transparent calculation · Stakeholder advantages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PRIMARY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1945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4600" b="1">
                <a:solidFill>
                  <a:srgbClr val="FD1485"/>
                </a:solidFill>
                <a:latin typeface="Fjalla One"/>
              </a:rPr>
              <a:t>85%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53334"/>
                </a:solidFill>
                <a:latin typeface="Fjalla One"/>
              </a:rPr>
              <a:t>Reduction in Parent-Student Conflict (PSCI)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2860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53334"/>
                </a:solidFill>
                <a:latin typeface="Fjalla One"/>
              </a:rPr>
              <a:t>HOW IT WAS MEASURED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Test: </a:t>
            </a:r>
            <a:r>
              <a:rPr sz="1000">
                <a:solidFill>
                  <a:srgbClr val="3C3C41"/>
                </a:solidFill>
                <a:latin typeface="Mulish"/>
              </a:rPr>
              <a:t>synthetic suite of 50 multi-stakeholder profiles across income brackets and risk tolerances (real-family pilot is next).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Formula: </a:t>
            </a:r>
            <a:r>
              <a:rPr sz="1000">
                <a:solidFill>
                  <a:srgbClr val="3C3C41"/>
                </a:solidFill>
                <a:latin typeface="Mulish"/>
              </a:rPr>
              <a:t>ΔPSCI = (PSCI before − PSCI after mediation) ÷ PSCI before × 100, averaged over 50 profiles.</a:t>
            </a:r>
          </a:p>
          <a:p>
            <a:pPr marL="142875" indent="-142875">
              <a:spcBef>
                <a:spcPts val="3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Context: </a:t>
            </a:r>
            <a:r>
              <a:rPr sz="1000">
                <a:solidFill>
                  <a:srgbClr val="3C3C41"/>
                </a:solidFill>
                <a:latin typeface="Mulish"/>
              </a:rPr>
              <a:t>80%+ of students face decision confusion; 50%+ regret choices by 25 (UNESCO; Dahiya, SSRN).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965960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IMPACT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43400"/>
            <a:ext cx="2606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353334"/>
                </a:solidFill>
                <a:latin typeface="Fjalla One"/>
              </a:rPr>
              <a:t>WHAT IMPROVES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950" b="1">
                <a:solidFill>
                  <a:srgbClr val="3C3C41"/>
                </a:solidFill>
                <a:latin typeface="Mulish"/>
              </a:rPr>
              <a:t xml:space="preserve">Blind choice → defensible path: </a:t>
            </a:r>
            <a:r>
              <a:rPr sz="950">
                <a:solidFill>
                  <a:srgbClr val="3C3C41"/>
                </a:solidFill>
                <a:latin typeface="Mulish"/>
              </a:rPr>
              <a:t>a 10-D psychometric match replaces guessing (90% choose blindly today).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950" b="1">
                <a:solidFill>
                  <a:srgbClr val="3C3C41"/>
                </a:solidFill>
                <a:latin typeface="Mulish"/>
              </a:rPr>
              <a:t xml:space="preserve">No financial surprises: </a:t>
            </a:r>
            <a:r>
              <a:rPr sz="950">
                <a:solidFill>
                  <a:srgbClr val="3C3C41"/>
                </a:solidFill>
                <a:latin typeface="Mulish"/>
              </a:rPr>
              <a:t>EMI ceiling, 5-year payback and bridge-scholarship matching.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950" b="1">
                <a:solidFill>
                  <a:srgbClr val="3C3C41"/>
                </a:solidFill>
                <a:latin typeface="Mulish"/>
              </a:rPr>
              <a:t xml:space="preserve">Skill gaps closed early: </a:t>
            </a:r>
            <a:r>
              <a:rPr sz="950">
                <a:solidFill>
                  <a:srgbClr val="3C3C41"/>
                </a:solidFill>
                <a:latin typeface="Mulish"/>
              </a:rPr>
              <a:t>personal SWOT before admission.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64608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84648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IMPACT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343400"/>
            <a:ext cx="2606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353334"/>
                </a:solidFill>
                <a:latin typeface="Fjalla One"/>
              </a:rPr>
              <a:t>WHO ELSE BENEFITS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950" b="1">
                <a:solidFill>
                  <a:srgbClr val="3C3C41"/>
                </a:solidFill>
                <a:latin typeface="Mulish"/>
              </a:rPr>
              <a:t xml:space="preserve">Parents: </a:t>
            </a:r>
            <a:r>
              <a:rPr sz="950">
                <a:solidFill>
                  <a:srgbClr val="3C3C41"/>
                </a:solidFill>
                <a:latin typeface="Mulish"/>
              </a:rPr>
              <a:t>financial clarity and risk mitigation, included in the decision.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950" b="1">
                <a:solidFill>
                  <a:srgbClr val="3C3C41"/>
                </a:solidFill>
                <a:latin typeface="Mulish"/>
              </a:rPr>
              <a:t xml:space="preserve">Regional STEAM ecosystems &amp; MSMEs: </a:t>
            </a:r>
            <a:r>
              <a:rPr sz="950">
                <a:solidFill>
                  <a:srgbClr val="3C3C41"/>
                </a:solidFill>
                <a:latin typeface="Mulish"/>
              </a:rPr>
              <a:t>local talent flows into manufacturing, EV and tech clusters, reducing out-migration.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950" b="1">
                <a:solidFill>
                  <a:srgbClr val="3C3C41"/>
                </a:solidFill>
                <a:latin typeface="Mulish"/>
              </a:rPr>
              <a:t xml:space="preserve">Colleges &amp; banks: </a:t>
            </a:r>
            <a:r>
              <a:rPr sz="950">
                <a:solidFill>
                  <a:srgbClr val="3C3C41"/>
                </a:solidFill>
                <a:latin typeface="Mulish"/>
              </a:rPr>
              <a:t>expected gains in completion and lower loan defaults via pre-verified course ROI.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03336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IMPACT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343400"/>
            <a:ext cx="2606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353334"/>
                </a:solidFill>
                <a:latin typeface="Fjalla One"/>
              </a:rPr>
              <a:t>RISKS / MISUSE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950" b="1">
                <a:solidFill>
                  <a:srgbClr val="3C3C41"/>
                </a:solidFill>
                <a:latin typeface="Mulish"/>
              </a:rPr>
              <a:t xml:space="preserve">Pigeonholing: </a:t>
            </a:r>
            <a:r>
              <a:rPr sz="950">
                <a:solidFill>
                  <a:srgbClr val="3C3C41"/>
                </a:solidFill>
                <a:latin typeface="Mulish"/>
              </a:rPr>
              <a:t>scores read as absolute. Fix: probabilistic pathways and sensitivity sliders that show how a new skill or aid unlocks tracks.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950" b="1">
                <a:solidFill>
                  <a:srgbClr val="3C3C41"/>
                </a:solidFill>
                <a:latin typeface="Mulish"/>
              </a:rPr>
              <a:t xml:space="preserve">Data drift: </a:t>
            </a:r>
            <a:r>
              <a:rPr sz="950">
                <a:solidFill>
                  <a:srgbClr val="3C3C41"/>
                </a:solidFill>
                <a:latin typeface="Mulish"/>
              </a:rPr>
              <a:t>stale fees or scholarship dates. Fix: version-controlled datasets aligned to official portal schemas.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950">
                <a:solidFill>
                  <a:srgbClr val="3C3C41"/>
                </a:solidFill>
                <a:latin typeface="Mulish"/>
              </a:rPr>
              <a:t>Positioned as decision support alongside human counsellors.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07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Why This Project?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Direct contrast with today's alternatives · Unfair technical advantage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457200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STATUS QUO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28600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353334"/>
                </a:solidFill>
                <a:latin typeface="Fjalla One"/>
              </a:rPr>
              <a:t>CURRENT APPROACH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Isolated silos: </a:t>
            </a:r>
            <a:r>
              <a:rPr sz="1000">
                <a:solidFill>
                  <a:srgbClr val="3C3C41"/>
                </a:solidFill>
                <a:latin typeface="Mulish"/>
              </a:rPr>
              <a:t>research tools (Cheng 2026, C3-IoC 2023, Lahoud 2023, Wahrini 2026) match skills or traits but ignore household finances, parental risk tolerance and loan burden.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Black boxes: </a:t>
            </a:r>
            <a:r>
              <a:rPr sz="1000">
                <a:solidFill>
                  <a:srgbClr val="3C3C41"/>
                </a:solidFill>
                <a:latin typeface="Mulish"/>
              </a:rPr>
              <a:t>generic LLM wrappers hallucinate fees and careers; static personality quizzes fail under real market constraints.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No mediation: </a:t>
            </a:r>
            <a:r>
              <a:rPr sz="1000">
                <a:solidFill>
                  <a:srgbClr val="3C3C41"/>
                </a:solidFill>
                <a:latin typeface="Mulish"/>
              </a:rPr>
              <a:t>Sarmurzin et al. (2026) flag automation bias and weak explainability; families are left with debt and conflict.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011680"/>
            <a:ext cx="457200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OUR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28600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353334"/>
                </a:solidFill>
                <a:latin typeface="Fjalla One"/>
              </a:rPr>
              <a:t>OUR APPROACH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Dual-stakeholder vectors: </a:t>
            </a:r>
            <a:r>
              <a:rPr sz="1000">
                <a:solidFill>
                  <a:srgbClr val="3C3C41"/>
                </a:solidFill>
                <a:latin typeface="Mulish"/>
              </a:rPr>
              <a:t>10-D student trait vector (RIASEC + aptitude) with a 4-D parent vector (liquid budget, debt cap, risk, mobility).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Solvers before LLM: </a:t>
            </a:r>
            <a:r>
              <a:rPr sz="1000">
                <a:solidFill>
                  <a:srgbClr val="3C3C41"/>
                </a:solidFill>
                <a:latin typeface="Mulish"/>
              </a:rPr>
              <a:t>cosine similarity, Euclidean distance and reducing-balance amortization give feasibility, payback and PSCI.</a:t>
            </a:r>
          </a:p>
          <a:p>
            <a:pPr marL="142875" indent="-142875">
              <a:spcBef>
                <a:spcPts val="400"/>
              </a:spcBef>
              <a:buFont typeface="Arial"/>
              <a:buChar char="•"/>
            </a:pPr>
            <a:r>
              <a:rPr sz="1000" b="1">
                <a:solidFill>
                  <a:srgbClr val="3C3C41"/>
                </a:solidFill>
                <a:latin typeface="Mulish"/>
              </a:rPr>
              <a:t xml:space="preserve">Explainable synthesis: </a:t>
            </a:r>
            <a:r>
              <a:rPr sz="1000">
                <a:solidFill>
                  <a:srgbClr val="3C3C41"/>
                </a:solidFill>
                <a:latin typeface="Mulish"/>
              </a:rPr>
              <a:t>Gemini 2.5 Flash explains the JSON output as a roadmap and bridge scholarships, with a math-only fallback.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892040"/>
            <a:ext cx="941832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764024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MOAT / DIFFERENTIATION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120640"/>
            <a:ext cx="8869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D1485"/>
                </a:solidFill>
                <a:latin typeface="Fjalla One"/>
              </a:rPr>
              <a:t>KEY DIFFERENCE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53334"/>
                </a:solidFill>
                <a:latin typeface="Fjalla One"/>
              </a:rPr>
              <a:t>Research solves isolated psychological matching (Cheng 2026) or skill mapping (C3-IoC, Wahrini 2026). PRISM treats career guidance as a multi-stakeholder constraint-satisfaction problem: it quantifies the Parent-Student Conflict Index (PSCI), closes tuition deficits through automated financial-aid matching, and generates Compromise Pathways that balance student ambition with family financial solvency.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D1485"/>
                </a:solidFill>
                <a:latin typeface="Fjalla One"/>
              </a:rPr>
              <a:t>08  </a:t>
            </a:r>
            <a:r>
              <a:rPr sz="3200" b="1" dirty="0">
                <a:solidFill>
                  <a:srgbClr val="353334"/>
                </a:solidFill>
                <a:latin typeface="Fjalla One"/>
              </a:rPr>
              <a:t>Architecture Deep-Dive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Appendix · Full layer-by-layer system architecture diagram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6583680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FULL 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2286000"/>
            <a:ext cx="6217920" cy="4069080"/>
          </a:xfrm>
          <a:prstGeom prst="roundRect">
            <a:avLst>
              <a:gd name="adj" fmla="val 3500"/>
            </a:avLst>
          </a:prstGeom>
          <a:solidFill>
            <a:srgbClr val="FFFFF1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Architecture diagram" descr="1791360237293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200" y="2354580"/>
            <a:ext cx="5263119" cy="3931920"/>
          </a:xfrm>
          <a:prstGeom prst="rect">
            <a:avLst/>
          </a:prstGeom>
        </p:spPr>
      </p:pic>
      <p:sp>
        <p:nvSpPr>
          <p:cNvPr id="28" name="Rounded Rectangle 23"/>
          <p:cNvSpPr/>
          <p:nvPr/>
        </p:nvSpPr>
        <p:spPr>
          <a:xfrm>
            <a:off x="8412480" y="2011680"/>
            <a:ext cx="2651760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4"/>
          <p:cNvSpPr/>
          <p:nvPr/>
        </p:nvSpPr>
        <p:spPr>
          <a:xfrm>
            <a:off x="85953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HOW TO READ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377440"/>
            <a:ext cx="2377440" cy="1325880"/>
          </a:xfrm>
          <a:prstGeom prst="rect">
            <a:avLst/>
          </a:prstGeom>
          <a:noFill/>
        </p:spPr>
        <p:txBody>
          <a:bodyPr wrap="square" anchor="t" lIns="45720" rIns="45720" tIns="54864" bIns="36576">
            <a:spAutoFit/>
          </a:bodyPr>
          <a:lstStyle/>
          <a:p>
            <a:pPr/>
            <a:r>
              <a:rPr lang="en-US" sz="1300" b="1">
                <a:solidFill>
                  <a:srgbClr val="353334"/>
                </a:solidFill>
                <a:latin typeface="Fjalla One"/>
              </a:rPr>
              <a:t>LAYER BY LAYER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1000" b="1">
                <a:solidFill>
                  <a:srgbClr val="3C3C41"/>
                </a:solidFill>
                <a:latin typeface="Mulish"/>
              </a:rPr>
              <a:t>1 Presentation: </a:t>
            </a:r>
            <a:r>
              <a:rPr lang="en-US" sz="1000">
                <a:solidFill>
                  <a:srgbClr val="3C3C41"/>
                </a:solidFill>
                <a:latin typeface="Mulish"/>
              </a:rPr>
              <a:t>two portals feed one analytics and chat view.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1000" b="1">
                <a:solidFill>
                  <a:srgbClr val="3C3C41"/>
                </a:solidFill>
                <a:latin typeface="Mulish"/>
              </a:rPr>
              <a:t>2 Gateway: </a:t>
            </a:r>
            <a:r>
              <a:rPr lang="en-US" sz="1000">
                <a:solidFill>
                  <a:srgbClr val="3C3C41"/>
                </a:solidFill>
                <a:latin typeface="Mulish"/>
              </a:rPr>
              <a:t>validates inputs, encodes vectors to 0–1.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1000" b="1">
                <a:solidFill>
                  <a:srgbClr val="3C3C41"/>
                </a:solidFill>
                <a:latin typeface="Mulish"/>
              </a:rPr>
              <a:t>3 Engine: </a:t>
            </a:r>
            <a:r>
              <a:rPr lang="en-US" sz="1000">
                <a:solidFill>
                  <a:srgbClr val="3C3C41"/>
                </a:solidFill>
                <a:latin typeface="Mulish"/>
              </a:rPr>
              <a:t>fit, PSCI and financial solver, then MAUT ranking.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1000" b="1">
                <a:solidFill>
                  <a:srgbClr val="3C3C41"/>
                </a:solidFill>
                <a:latin typeface="Mulish"/>
              </a:rPr>
              <a:t>4 Data: </a:t>
            </a:r>
            <a:r>
              <a:rPr lang="en-US" sz="1000">
                <a:solidFill>
                  <a:srgbClr val="3C3C41"/>
                </a:solidFill>
                <a:latin typeface="Mulish"/>
              </a:rPr>
              <a:t>benchmarks, regional demand, scholarships.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1000" b="1">
                <a:solidFill>
                  <a:srgbClr val="3C3C41"/>
                </a:solidFill>
                <a:latin typeface="Mulish"/>
              </a:rPr>
              <a:t>5 AI: </a:t>
            </a:r>
            <a:r>
              <a:rPr lang="en-US" sz="1000">
                <a:solidFill>
                  <a:srgbClr val="3C3C41"/>
                </a:solidFill>
                <a:latin typeface="Mulish"/>
              </a:rPr>
              <a:t>Gemini explains; pure math if the API fails.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1096</Words>
  <Application>Microsoft Office PowerPoint</Application>
  <PresentationFormat>Widescreen</PresentationFormat>
  <Paragraphs>151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Kivin Ramesh</cp:lastModifiedBy>
  <cp:revision>7</cp:revision>
  <dcterms:created xsi:type="dcterms:W3CDTF">2013-01-27T09:14:16Z</dcterms:created>
  <dcterms:modified xsi:type="dcterms:W3CDTF">2026-10-07T06:08:27Z</dcterms:modified>
  <cp:category/>
</cp:coreProperties>
</file>